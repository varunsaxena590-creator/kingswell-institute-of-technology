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  <Relationship Id="rId18" Type="http://schemas.openxmlformats.org/officeDocument/2006/relationships/slide" Target="slides/slide17.xml"/>
  <Relationship Id="rId19" Type="http://schemas.openxmlformats.org/officeDocument/2006/relationships/slide" Target="slides/slide18.xml"/>
  <Relationship Id="rId20" Type="http://schemas.openxmlformats.org/officeDocument/2006/relationships/slide" Target="slides/slide19.xml"/>
  <Relationship Id="rId21" Type="http://schemas.openxmlformats.org/officeDocument/2006/relationships/slide" Target="slides/slide20.xml"/>
  <Relationship Id="rId22" Type="http://schemas.openxmlformats.org/officeDocument/2006/relationships/slide" Target="slides/slide21.xml"/>
  <Relationship Id="rId23" Type="http://schemas.openxmlformats.org/officeDocument/2006/relationships/slide" Target="slides/slide22.xml"/>
  <Relationship Id="rId24" Type="http://schemas.openxmlformats.org/officeDocument/2006/relationships/slide" Target="slides/slide23.xml"/>
  <Relationship Id="rId25" Type="http://schemas.openxmlformats.org/officeDocument/2006/relationships/slide" Target="slides/slide24.xml"/>
  <Relationship Id="rId26" Type="http://schemas.openxmlformats.org/officeDocument/2006/relationships/slide" Target="slides/slide25.xml"/>
  <Relationship Id="rId27" Type="http://schemas.openxmlformats.org/officeDocument/2006/relationships/slide" Target="slides/slide26.xml"/>
  <Relationship Id="rId28" Type="http://schemas.openxmlformats.org/officeDocument/2006/relationships/slide" Target="slides/slide27.xml"/>
  <Relationship Id="rId29" Type="http://schemas.openxmlformats.org/officeDocument/2006/relationships/slide" Target="slides/slide28.xml"/>
  <Relationship Id="rId30" Type="http://schemas.openxmlformats.org/officeDocument/2006/relationships/slide" Target="slides/slide29.xml"/>
  <Relationship Id="rId31" Type="http://schemas.openxmlformats.org/officeDocument/2006/relationships/slide" Target="slides/slide3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Final Year / Academic Project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College Management System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Full Project Report: Frontend, Backend, Database, Modules, Codebase and Future Scope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01 / 30</a:t>
            </a:r>
            <a:endParaRPr lang="en-US" sz="1000"/>
          </a:p>
        </p:txBody>
      </p:sp>
      <p:sp>
        <p:nvSpPr>
          <p:cNvPr id="8" name="Frontend Pages"/>
          <p:cNvSpPr/>
          <p:nvPr/>
        </p:nvSpPr>
        <p:spPr>
          <a:xfrm>
            <a:off x="571500" y="2190750"/>
            <a:ext cx="2381250" cy="1095375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9" name="Frontend Pages Value"/>
          <p:cNvSpPr/>
          <p:nvPr/>
        </p:nvSpPr>
        <p:spPr>
          <a:xfrm>
            <a:off x="704850" y="2343150"/>
            <a:ext cx="2114550" cy="381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c"/>
            <a:r>
              <a:rPr lang="en-US" sz="2600" b="1">
                <a:solidFill>
                  <a:srgbClr val="FFFFFF"/>
                </a:solidFill>
                <a:latin typeface="Aptos Display"/>
              </a:rPr>
              <a:t>31+</a:t>
            </a:r>
            <a:endParaRPr lang="en-US" sz="2600"/>
          </a:p>
        </p:txBody>
      </p:sp>
      <p:sp>
        <p:nvSpPr>
          <p:cNvPr id="10" name="Frontend Pages Label"/>
          <p:cNvSpPr/>
          <p:nvPr/>
        </p:nvSpPr>
        <p:spPr>
          <a:xfrm>
            <a:off x="704850" y="2743200"/>
            <a:ext cx="211455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c"/>
            <a:r>
              <a:rPr lang="en-US" sz="1100">
                <a:solidFill>
                  <a:srgbClr val="D9E4F2"/>
                </a:solidFill>
                <a:latin typeface="Aptos"/>
              </a:rPr>
              <a:t>Frontend Pages</a:t>
            </a:r>
            <a:endParaRPr lang="en-US" sz="1100"/>
          </a:p>
        </p:txBody>
      </p:sp>
      <p:sp>
        <p:nvSpPr>
          <p:cNvPr id="11" name="Admin Pages"/>
          <p:cNvSpPr/>
          <p:nvPr/>
        </p:nvSpPr>
        <p:spPr>
          <a:xfrm>
            <a:off x="3238500" y="2190750"/>
            <a:ext cx="2381250" cy="1095375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2" name="Admin Pages Value"/>
          <p:cNvSpPr/>
          <p:nvPr/>
        </p:nvSpPr>
        <p:spPr>
          <a:xfrm>
            <a:off x="3371850" y="2343150"/>
            <a:ext cx="2114550" cy="381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c"/>
            <a:r>
              <a:rPr lang="en-US" sz="2600" b="1">
                <a:solidFill>
                  <a:srgbClr val="FFFFFF"/>
                </a:solidFill>
                <a:latin typeface="Aptos Display"/>
              </a:rPr>
              <a:t>27</a:t>
            </a:r>
            <a:endParaRPr lang="en-US" sz="2600"/>
          </a:p>
        </p:txBody>
      </p:sp>
      <p:sp>
        <p:nvSpPr>
          <p:cNvPr id="13" name="Admin Pages Label"/>
          <p:cNvSpPr/>
          <p:nvPr/>
        </p:nvSpPr>
        <p:spPr>
          <a:xfrm>
            <a:off x="3371850" y="2743200"/>
            <a:ext cx="211455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c"/>
            <a:r>
              <a:rPr lang="en-US" sz="1100">
                <a:solidFill>
                  <a:srgbClr val="D9E4F2"/>
                </a:solidFill>
                <a:latin typeface="Aptos"/>
              </a:rPr>
              <a:t>Admin Pages</a:t>
            </a:r>
            <a:endParaRPr lang="en-US" sz="1100"/>
          </a:p>
        </p:txBody>
      </p:sp>
      <p:sp>
        <p:nvSpPr>
          <p:cNvPr id="14" name="API Route Files"/>
          <p:cNvSpPr/>
          <p:nvPr/>
        </p:nvSpPr>
        <p:spPr>
          <a:xfrm>
            <a:off x="5905500" y="2190750"/>
            <a:ext cx="2381250" cy="1095375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</p:sp>
      <p:sp>
        <p:nvSpPr>
          <p:cNvPr id="15" name="API Route Files Value"/>
          <p:cNvSpPr/>
          <p:nvPr/>
        </p:nvSpPr>
        <p:spPr>
          <a:xfrm>
            <a:off x="6038850" y="2343150"/>
            <a:ext cx="2114550" cy="381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c"/>
            <a:r>
              <a:rPr lang="en-US" sz="2600" b="1">
                <a:solidFill>
                  <a:srgbClr val="FFFFFF"/>
                </a:solidFill>
                <a:latin typeface="Aptos Display"/>
              </a:rPr>
              <a:t>30</a:t>
            </a:r>
            <a:endParaRPr lang="en-US" sz="2600"/>
          </a:p>
        </p:txBody>
      </p:sp>
      <p:sp>
        <p:nvSpPr>
          <p:cNvPr id="16" name="API Route Files Label"/>
          <p:cNvSpPr/>
          <p:nvPr/>
        </p:nvSpPr>
        <p:spPr>
          <a:xfrm>
            <a:off x="6038850" y="2743200"/>
            <a:ext cx="211455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c"/>
            <a:r>
              <a:rPr lang="en-US" sz="1100">
                <a:solidFill>
                  <a:srgbClr val="D9E4F2"/>
                </a:solidFill>
                <a:latin typeface="Aptos"/>
              </a:rPr>
              <a:t>API Route Files</a:t>
            </a:r>
            <a:endParaRPr lang="en-US" sz="1100"/>
          </a:p>
        </p:txBody>
      </p:sp>
      <p:sp>
        <p:nvSpPr>
          <p:cNvPr id="17" name="Database Models"/>
          <p:cNvSpPr/>
          <p:nvPr/>
        </p:nvSpPr>
        <p:spPr>
          <a:xfrm>
            <a:off x="8572500" y="2190750"/>
            <a:ext cx="2381250" cy="1095375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8" name="Database Models Value"/>
          <p:cNvSpPr/>
          <p:nvPr/>
        </p:nvSpPr>
        <p:spPr>
          <a:xfrm>
            <a:off x="8705850" y="2343150"/>
            <a:ext cx="2114550" cy="381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c"/>
            <a:r>
              <a:rPr lang="en-US" sz="2600" b="1">
                <a:solidFill>
                  <a:srgbClr val="FFFFFF"/>
                </a:solidFill>
                <a:latin typeface="Aptos Display"/>
              </a:rPr>
              <a:t>30</a:t>
            </a:r>
            <a:endParaRPr lang="en-US" sz="2600"/>
          </a:p>
        </p:txBody>
      </p:sp>
      <p:sp>
        <p:nvSpPr>
          <p:cNvPr id="19" name="Database Models Label"/>
          <p:cNvSpPr/>
          <p:nvPr/>
        </p:nvSpPr>
        <p:spPr>
          <a:xfrm>
            <a:off x="8705850" y="2743200"/>
            <a:ext cx="211455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c"/>
            <a:r>
              <a:rPr lang="en-US" sz="1100">
                <a:solidFill>
                  <a:srgbClr val="D9E4F2"/>
                </a:solidFill>
                <a:latin typeface="Aptos"/>
              </a:rPr>
              <a:t>Database Models</a:t>
            </a:r>
            <a:endParaRPr lang="en-US" sz="1100"/>
          </a:p>
        </p:txBody>
      </p:sp>
      <p:sp>
        <p:nvSpPr>
          <p:cNvPr id="20" name="Project Identity"/>
          <p:cNvSpPr/>
          <p:nvPr/>
        </p:nvSpPr>
        <p:spPr>
          <a:xfrm>
            <a:off x="857250" y="4000500"/>
            <a:ext cx="10477500" cy="1143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21" name="Project Identity Title"/>
          <p:cNvSpPr/>
          <p:nvPr/>
        </p:nvSpPr>
        <p:spPr>
          <a:xfrm>
            <a:off x="1028700" y="4133850"/>
            <a:ext cx="101346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600" b="1">
                <a:solidFill>
                  <a:srgbClr val="D4AF37"/>
                </a:solidFill>
                <a:latin typeface="Aptos"/>
              </a:rPr>
              <a:t>Project Identity</a:t>
            </a:r>
            <a:endParaRPr lang="en-US" sz="1600"/>
          </a:p>
        </p:txBody>
      </p:sp>
      <p:sp>
        <p:nvSpPr>
          <p:cNvPr id="22" name="Project Identity Body"/>
          <p:cNvSpPr/>
          <p:nvPr/>
        </p:nvSpPr>
        <p:spPr>
          <a:xfrm>
            <a:off x="1028700" y="4438650"/>
            <a:ext cx="10134600" cy="590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800">
                <a:solidFill>
                  <a:srgbClr val="E7EEF8"/>
                </a:solidFill>
                <a:latin typeface="Aptos"/>
              </a:rPr>
              <a:t>A complete MERN-based college ERP portal for admissions, academics, fees, exams, communication, reporting, and chatbot-based support.</a:t>
            </a:r>
            <a:endParaRPr 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Overview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Executive Summary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What this project delivers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02 / 30</a:t>
            </a:r>
            <a:endParaRPr lang="en-US" sz="1000"/>
          </a:p>
        </p:txBody>
      </p:sp>
      <p:sp>
        <p:nvSpPr>
          <p:cNvPr id="8" name="Purpose"/>
          <p:cNvSpPr/>
          <p:nvPr/>
        </p:nvSpPr>
        <p:spPr>
          <a:xfrm>
            <a:off x="571500" y="1809750"/>
            <a:ext cx="3429000" cy="2952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Purpose Title"/>
          <p:cNvSpPr/>
          <p:nvPr/>
        </p:nvSpPr>
        <p:spPr>
          <a:xfrm>
            <a:off x="742950" y="1943100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Purpose</a:t>
            </a:r>
            <a:endParaRPr lang="en-US" sz="1300"/>
          </a:p>
        </p:txBody>
      </p:sp>
      <p:sp>
        <p:nvSpPr>
          <p:cNvPr id="10" name="Purpose Body"/>
          <p:cNvSpPr/>
          <p:nvPr/>
        </p:nvSpPr>
        <p:spPr>
          <a:xfrm>
            <a:off x="742950" y="2247900"/>
            <a:ext cx="3086100" cy="2400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Digitize major college operations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Provide public website, student portal, and admin dashboard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Reduce manual record keeping and improve communication</a:t>
            </a:r>
            <a:endParaRPr lang="en-US" sz="1500"/>
          </a:p>
        </p:txBody>
      </p:sp>
      <p:sp>
        <p:nvSpPr>
          <p:cNvPr id="11" name="Core Deliverables"/>
          <p:cNvSpPr/>
          <p:nvPr/>
        </p:nvSpPr>
        <p:spPr>
          <a:xfrm>
            <a:off x="4381500" y="1809750"/>
            <a:ext cx="3429000" cy="2952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Core Deliverables Title"/>
          <p:cNvSpPr/>
          <p:nvPr/>
        </p:nvSpPr>
        <p:spPr>
          <a:xfrm>
            <a:off x="4552950" y="1943100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Core Deliverables</a:t>
            </a:r>
            <a:endParaRPr lang="en-US" sz="1300"/>
          </a:p>
        </p:txBody>
      </p:sp>
      <p:sp>
        <p:nvSpPr>
          <p:cNvPr id="13" name="Core Deliverables Body"/>
          <p:cNvSpPr/>
          <p:nvPr/>
        </p:nvSpPr>
        <p:spPr>
          <a:xfrm>
            <a:off x="4552950" y="2247900"/>
            <a:ext cx="3086100" cy="2400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Admission and student management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Fees, results, attendance, timetable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Library, hostel, certificates, events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Chat, notifications, analytics, chatbot</a:t>
            </a:r>
            <a:endParaRPr lang="en-US" sz="1500"/>
          </a:p>
        </p:txBody>
      </p:sp>
      <p:sp>
        <p:nvSpPr>
          <p:cNvPr id="14" name="Value"/>
          <p:cNvSpPr/>
          <p:nvPr/>
        </p:nvSpPr>
        <p:spPr>
          <a:xfrm>
            <a:off x="8191500" y="1809750"/>
            <a:ext cx="3429000" cy="2952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5" name="Value Title"/>
          <p:cNvSpPr/>
          <p:nvPr/>
        </p:nvSpPr>
        <p:spPr>
          <a:xfrm>
            <a:off x="8362950" y="1943100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Value</a:t>
            </a:r>
            <a:endParaRPr lang="en-US" sz="1300"/>
          </a:p>
        </p:txBody>
      </p:sp>
      <p:sp>
        <p:nvSpPr>
          <p:cNvPr id="16" name="Value Body"/>
          <p:cNvSpPr/>
          <p:nvPr/>
        </p:nvSpPr>
        <p:spPr>
          <a:xfrm>
            <a:off x="8362950" y="2247900"/>
            <a:ext cx="3086100" cy="2400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Faster admin workflows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Better student self-service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Centralized database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Scalable module-based codebase</a:t>
            </a:r>
            <a:endParaRPr lang="en-US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Project Foundation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Problem Statement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Manual college processes create delays, duplicate work, and poor visibility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03 / 30</a:t>
            </a:r>
            <a:endParaRPr lang="en-US" sz="1000"/>
          </a:p>
        </p:txBody>
      </p:sp>
      <p:sp>
        <p:nvSpPr>
          <p:cNvPr id="8" name="Existing Challenges"/>
          <p:cNvSpPr/>
          <p:nvPr/>
        </p:nvSpPr>
        <p:spPr>
          <a:xfrm>
            <a:off x="666750" y="1762125"/>
            <a:ext cx="5048250" cy="3429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Existing Challenges Title"/>
          <p:cNvSpPr/>
          <p:nvPr/>
        </p:nvSpPr>
        <p:spPr>
          <a:xfrm>
            <a:off x="838200" y="1895475"/>
            <a:ext cx="47053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Existing Challenges</a:t>
            </a:r>
            <a:endParaRPr lang="en-US" sz="1300"/>
          </a:p>
        </p:txBody>
      </p:sp>
      <p:sp>
        <p:nvSpPr>
          <p:cNvPr id="10" name="Existing Challenges Body"/>
          <p:cNvSpPr/>
          <p:nvPr/>
        </p:nvSpPr>
        <p:spPr>
          <a:xfrm>
            <a:off x="838200" y="2200275"/>
            <a:ext cx="4705350" cy="2876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600">
                <a:solidFill>
                  <a:srgbClr val="E7EEF8"/>
                </a:solidFill>
                <a:latin typeface="Aptos"/>
              </a:rPr>
              <a:t>- Paper-based admissions and student records</a:t>
            </a:r>
            <a:endParaRPr lang="en-US" sz="1600"/>
          </a:p>
          <a:p>
            <a:pPr algn="l"/>
            <a:r>
              <a:rPr lang="en-US" sz="1600">
                <a:solidFill>
                  <a:srgbClr val="E7EEF8"/>
                </a:solidFill>
                <a:latin typeface="Aptos"/>
              </a:rPr>
              <a:t>- Fee tracking and receipts handled manually</a:t>
            </a:r>
            <a:endParaRPr lang="en-US" sz="1600"/>
          </a:p>
          <a:p>
            <a:pPr algn="l"/>
            <a:r>
              <a:rPr lang="en-US" sz="1600">
                <a:solidFill>
                  <a:srgbClr val="E7EEF8"/>
                </a:solidFill>
                <a:latin typeface="Aptos"/>
              </a:rPr>
              <a:t>- Results, attendance, hall tickets and notices scattered across systems</a:t>
            </a:r>
            <a:endParaRPr lang="en-US" sz="1600"/>
          </a:p>
          <a:p>
            <a:pPr algn="l"/>
            <a:r>
              <a:rPr lang="en-US" sz="1600">
                <a:solidFill>
                  <a:srgbClr val="E7EEF8"/>
                </a:solidFill>
                <a:latin typeface="Aptos"/>
              </a:rPr>
              <a:t>- Students depend on office staff for simple status questions</a:t>
            </a:r>
            <a:endParaRPr lang="en-US" sz="1600"/>
          </a:p>
        </p:txBody>
      </p:sp>
      <p:sp>
        <p:nvSpPr>
          <p:cNvPr id="11" name="Project Response"/>
          <p:cNvSpPr/>
          <p:nvPr/>
        </p:nvSpPr>
        <p:spPr>
          <a:xfrm>
            <a:off x="6477000" y="1762125"/>
            <a:ext cx="5048250" cy="3429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Project Response Title"/>
          <p:cNvSpPr/>
          <p:nvPr/>
        </p:nvSpPr>
        <p:spPr>
          <a:xfrm>
            <a:off x="6648450" y="1895475"/>
            <a:ext cx="47053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Project Response</a:t>
            </a:r>
            <a:endParaRPr lang="en-US" sz="1300"/>
          </a:p>
        </p:txBody>
      </p:sp>
      <p:sp>
        <p:nvSpPr>
          <p:cNvPr id="13" name="Project Response Body"/>
          <p:cNvSpPr/>
          <p:nvPr/>
        </p:nvSpPr>
        <p:spPr>
          <a:xfrm>
            <a:off x="6648450" y="2200275"/>
            <a:ext cx="4705350" cy="2876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600">
                <a:solidFill>
                  <a:srgbClr val="E7EEF8"/>
                </a:solidFill>
                <a:latin typeface="Aptos"/>
              </a:rPr>
              <a:t>- One web platform for college operations</a:t>
            </a:r>
            <a:endParaRPr lang="en-US" sz="1600"/>
          </a:p>
          <a:p>
            <a:pPr algn="l"/>
            <a:r>
              <a:rPr lang="en-US" sz="1600">
                <a:solidFill>
                  <a:srgbClr val="E7EEF8"/>
                </a:solidFill>
                <a:latin typeface="Aptos"/>
              </a:rPr>
              <a:t>- Role-based admin and student access</a:t>
            </a:r>
            <a:endParaRPr lang="en-US" sz="1600"/>
          </a:p>
          <a:p>
            <a:pPr algn="l"/>
            <a:r>
              <a:rPr lang="en-US" sz="1600">
                <a:solidFill>
                  <a:srgbClr val="E7EEF8"/>
                </a:solidFill>
                <a:latin typeface="Aptos"/>
              </a:rPr>
              <a:t>- Structured MongoDB database</a:t>
            </a:r>
            <a:endParaRPr lang="en-US" sz="1600"/>
          </a:p>
          <a:p>
            <a:pPr algn="l"/>
            <a:r>
              <a:rPr lang="en-US" sz="1600">
                <a:solidFill>
                  <a:srgbClr val="E7EEF8"/>
                </a:solidFill>
                <a:latin typeface="Aptos"/>
              </a:rPr>
              <a:t>- Chatbot and quick actions for common student queries</a:t>
            </a:r>
            <a:endParaRPr 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Project Foundation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Project Objectives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Functional and technical goals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04 / 30</a:t>
            </a:r>
            <a:endParaRPr lang="en-US" sz="1000"/>
          </a:p>
        </p:txBody>
      </p:sp>
      <p:sp>
        <p:nvSpPr>
          <p:cNvPr id="8" name="Functional Objectives"/>
          <p:cNvSpPr/>
          <p:nvPr/>
        </p:nvSpPr>
        <p:spPr>
          <a:xfrm>
            <a:off x="666750" y="1762125"/>
            <a:ext cx="3333750" cy="31432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Functional Objectives Title"/>
          <p:cNvSpPr/>
          <p:nvPr/>
        </p:nvSpPr>
        <p:spPr>
          <a:xfrm>
            <a:off x="838200" y="1895475"/>
            <a:ext cx="29908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Functional Objectives</a:t>
            </a:r>
            <a:endParaRPr lang="en-US" sz="1300"/>
          </a:p>
        </p:txBody>
      </p:sp>
      <p:sp>
        <p:nvSpPr>
          <p:cNvPr id="10" name="Functional Objectives Body"/>
          <p:cNvSpPr/>
          <p:nvPr/>
        </p:nvSpPr>
        <p:spPr>
          <a:xfrm>
            <a:off x="838200" y="2200275"/>
            <a:ext cx="2990850" cy="2590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Manage admissions, courses and faculty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Track fees, attendance and results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Publish notices, events and placements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Provide student self-service dashboard</a:t>
            </a:r>
            <a:endParaRPr lang="en-US" sz="1500"/>
          </a:p>
        </p:txBody>
      </p:sp>
      <p:sp>
        <p:nvSpPr>
          <p:cNvPr id="11" name="Technical Objectives"/>
          <p:cNvSpPr/>
          <p:nvPr/>
        </p:nvSpPr>
        <p:spPr>
          <a:xfrm>
            <a:off x="4429125" y="1762125"/>
            <a:ext cx="3333750" cy="31432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Technical Objectives Title"/>
          <p:cNvSpPr/>
          <p:nvPr/>
        </p:nvSpPr>
        <p:spPr>
          <a:xfrm>
            <a:off x="4600575" y="1895475"/>
            <a:ext cx="29908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Technical Objectives</a:t>
            </a:r>
            <a:endParaRPr lang="en-US" sz="1300"/>
          </a:p>
        </p:txBody>
      </p:sp>
      <p:sp>
        <p:nvSpPr>
          <p:cNvPr id="13" name="Technical Objectives Body"/>
          <p:cNvSpPr/>
          <p:nvPr/>
        </p:nvSpPr>
        <p:spPr>
          <a:xfrm>
            <a:off x="4600575" y="2200275"/>
            <a:ext cx="2990850" cy="2590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Use React single-page application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Build REST APIs with Express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Store data in MongoDB using Mongoose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Secure routes with JWT and role guards</a:t>
            </a:r>
            <a:endParaRPr lang="en-US" sz="1500"/>
          </a:p>
        </p:txBody>
      </p:sp>
      <p:sp>
        <p:nvSpPr>
          <p:cNvPr id="14" name="Usability Objectives"/>
          <p:cNvSpPr/>
          <p:nvPr/>
        </p:nvSpPr>
        <p:spPr>
          <a:xfrm>
            <a:off x="8191500" y="1762125"/>
            <a:ext cx="3333750" cy="31432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5" name="Usability Objectives Title"/>
          <p:cNvSpPr/>
          <p:nvPr/>
        </p:nvSpPr>
        <p:spPr>
          <a:xfrm>
            <a:off x="8362950" y="1895475"/>
            <a:ext cx="29908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Usability Objectives</a:t>
            </a:r>
            <a:endParaRPr lang="en-US" sz="1300"/>
          </a:p>
        </p:txBody>
      </p:sp>
      <p:sp>
        <p:nvSpPr>
          <p:cNvPr id="16" name="Usability Objectives Body"/>
          <p:cNvSpPr/>
          <p:nvPr/>
        </p:nvSpPr>
        <p:spPr>
          <a:xfrm>
            <a:off x="8362950" y="2200275"/>
            <a:ext cx="2990850" cy="2590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Responsive UI with clear navigation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Admin analytics and reports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Quick chatbot support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Downloadable documents and PDF reports</a:t>
            </a:r>
            <a:endParaRPr lang="en-US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Access Model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User Roles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The system is designed around public visitors, students, admins, and faculty-facing operations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05 / 30</a:t>
            </a:r>
            <a:endParaRPr lang="en-US" sz="1000"/>
          </a:p>
        </p:txBody>
      </p:sp>
      <p:sp>
        <p:nvSpPr>
          <p:cNvPr id="8" name="Public Visitor"/>
          <p:cNvSpPr/>
          <p:nvPr/>
        </p:nvSpPr>
        <p:spPr>
          <a:xfrm>
            <a:off x="571500" y="1762125"/>
            <a:ext cx="2476500" cy="2952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Public Visitor Title"/>
          <p:cNvSpPr/>
          <p:nvPr/>
        </p:nvSpPr>
        <p:spPr>
          <a:xfrm>
            <a:off x="742950" y="1895475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Public Visitor</a:t>
            </a:r>
            <a:endParaRPr lang="en-US" sz="1300"/>
          </a:p>
        </p:txBody>
      </p:sp>
      <p:sp>
        <p:nvSpPr>
          <p:cNvPr id="10" name="Public Visitor Body"/>
          <p:cNvSpPr/>
          <p:nvPr/>
        </p:nvSpPr>
        <p:spPr>
          <a:xfrm>
            <a:off x="742950" y="2200275"/>
            <a:ext cx="2133600" cy="2400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Home, About, Courses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Faculty, Gallery, Events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Admission form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Contact enquiry</a:t>
            </a:r>
            <a:endParaRPr lang="en-US" sz="1400"/>
          </a:p>
        </p:txBody>
      </p:sp>
      <p:sp>
        <p:nvSpPr>
          <p:cNvPr id="11" name="Student"/>
          <p:cNvSpPr/>
          <p:nvPr/>
        </p:nvSpPr>
        <p:spPr>
          <a:xfrm>
            <a:off x="3429000" y="1762125"/>
            <a:ext cx="2476500" cy="2952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Student Title"/>
          <p:cNvSpPr/>
          <p:nvPr/>
        </p:nvSpPr>
        <p:spPr>
          <a:xfrm>
            <a:off x="3600450" y="1895475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Student</a:t>
            </a:r>
            <a:endParaRPr lang="en-US" sz="1300"/>
          </a:p>
        </p:txBody>
      </p:sp>
      <p:sp>
        <p:nvSpPr>
          <p:cNvPr id="13" name="Student Body"/>
          <p:cNvSpPr/>
          <p:nvPr/>
        </p:nvSpPr>
        <p:spPr>
          <a:xfrm>
            <a:off x="3600450" y="2200275"/>
            <a:ext cx="2133600" cy="2400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Profile and ID card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My fees, results, attendance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Assignments, exams, library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Chat, notifications, hall ticket</a:t>
            </a:r>
            <a:endParaRPr lang="en-US" sz="1400"/>
          </a:p>
        </p:txBody>
      </p:sp>
      <p:sp>
        <p:nvSpPr>
          <p:cNvPr id="14" name="Admin"/>
          <p:cNvSpPr/>
          <p:nvPr/>
        </p:nvSpPr>
        <p:spPr>
          <a:xfrm>
            <a:off x="6286500" y="1762125"/>
            <a:ext cx="2476500" cy="2952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5" name="Admin Title"/>
          <p:cNvSpPr/>
          <p:nvPr/>
        </p:nvSpPr>
        <p:spPr>
          <a:xfrm>
            <a:off x="6457950" y="1895475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Admin</a:t>
            </a:r>
            <a:endParaRPr lang="en-US" sz="1300"/>
          </a:p>
        </p:txBody>
      </p:sp>
      <p:sp>
        <p:nvSpPr>
          <p:cNvPr id="16" name="Admin Body"/>
          <p:cNvSpPr/>
          <p:nvPr/>
        </p:nvSpPr>
        <p:spPr>
          <a:xfrm>
            <a:off x="6457950" y="2200275"/>
            <a:ext cx="2133600" cy="2400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Manage students and courses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Fees, results, attendance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Library, hostel, certificates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Analytics and communication</a:t>
            </a:r>
            <a:endParaRPr lang="en-US" sz="1400"/>
          </a:p>
        </p:txBody>
      </p:sp>
      <p:sp>
        <p:nvSpPr>
          <p:cNvPr id="17" name="Support Flow"/>
          <p:cNvSpPr/>
          <p:nvPr/>
        </p:nvSpPr>
        <p:spPr>
          <a:xfrm>
            <a:off x="9144000" y="1762125"/>
            <a:ext cx="2476500" cy="2952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8" name="Support Flow Title"/>
          <p:cNvSpPr/>
          <p:nvPr/>
        </p:nvSpPr>
        <p:spPr>
          <a:xfrm>
            <a:off x="9315450" y="1895475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Support Flow</a:t>
            </a:r>
            <a:endParaRPr lang="en-US" sz="1300"/>
          </a:p>
        </p:txBody>
      </p:sp>
      <p:sp>
        <p:nvSpPr>
          <p:cNvPr id="19" name="Support Flow Body"/>
          <p:cNvSpPr/>
          <p:nvPr/>
        </p:nvSpPr>
        <p:spPr>
          <a:xfrm>
            <a:off x="9315450" y="2200275"/>
            <a:ext cx="2133600" cy="2400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Chatbot answers FAQs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Unanswered questions saved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Admin can update FAQ answers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Messages support live help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Stack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Technology Stack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Frontend, backend, database, utilities, and reporting libraries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06 / 30</a:t>
            </a:r>
            <a:endParaRPr lang="en-US" sz="1000"/>
          </a:p>
        </p:txBody>
      </p:sp>
      <p:sp>
        <p:nvSpPr>
          <p:cNvPr id="8" name="Frontend"/>
          <p:cNvSpPr/>
          <p:nvPr/>
        </p:nvSpPr>
        <p:spPr>
          <a:xfrm>
            <a:off x="523875" y="1666875"/>
            <a:ext cx="3476625" cy="3429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Frontend Title"/>
          <p:cNvSpPr/>
          <p:nvPr/>
        </p:nvSpPr>
        <p:spPr>
          <a:xfrm>
            <a:off x="695325" y="1800225"/>
            <a:ext cx="3133725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Frontend</a:t>
            </a:r>
            <a:endParaRPr lang="en-US" sz="1300"/>
          </a:p>
        </p:txBody>
      </p:sp>
      <p:sp>
        <p:nvSpPr>
          <p:cNvPr id="10" name="Frontend Body"/>
          <p:cNvSpPr/>
          <p:nvPr/>
        </p:nvSpPr>
        <p:spPr>
          <a:xfrm>
            <a:off x="695325" y="2105025"/>
            <a:ext cx="3133725" cy="2876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React 18 + Vite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React Router DOM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Tailwind CSS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Framer Motion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React Icons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Recharts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Three.js / React Three Fiber</a:t>
            </a:r>
            <a:endParaRPr lang="en-US" sz="1400"/>
          </a:p>
        </p:txBody>
      </p:sp>
      <p:sp>
        <p:nvSpPr>
          <p:cNvPr id="11" name="Backend"/>
          <p:cNvSpPr/>
          <p:nvPr/>
        </p:nvSpPr>
        <p:spPr>
          <a:xfrm>
            <a:off x="4333875" y="1666875"/>
            <a:ext cx="3476625" cy="3429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Backend Title"/>
          <p:cNvSpPr/>
          <p:nvPr/>
        </p:nvSpPr>
        <p:spPr>
          <a:xfrm>
            <a:off x="4505325" y="1800225"/>
            <a:ext cx="3133725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Backend</a:t>
            </a:r>
            <a:endParaRPr lang="en-US" sz="1300"/>
          </a:p>
        </p:txBody>
      </p:sp>
      <p:sp>
        <p:nvSpPr>
          <p:cNvPr id="13" name="Backend Body"/>
          <p:cNvSpPr/>
          <p:nvPr/>
        </p:nvSpPr>
        <p:spPr>
          <a:xfrm>
            <a:off x="4505325" y="2105025"/>
            <a:ext cx="3133725" cy="2876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Node.js + Express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Mongoose ODM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JWT authentication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bcryptjs password hashing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Multer and Cloudinary uploads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Nodemailer and Twilio utilities</a:t>
            </a:r>
            <a:endParaRPr lang="en-US" sz="1400"/>
          </a:p>
        </p:txBody>
      </p:sp>
      <p:sp>
        <p:nvSpPr>
          <p:cNvPr id="14" name="Database and Reports"/>
          <p:cNvSpPr/>
          <p:nvPr/>
        </p:nvSpPr>
        <p:spPr>
          <a:xfrm>
            <a:off x="8143875" y="1666875"/>
            <a:ext cx="3476625" cy="3429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5" name="Database and Reports Title"/>
          <p:cNvSpPr/>
          <p:nvPr/>
        </p:nvSpPr>
        <p:spPr>
          <a:xfrm>
            <a:off x="8315325" y="1800225"/>
            <a:ext cx="3133725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Database and Reports</a:t>
            </a:r>
            <a:endParaRPr lang="en-US" sz="1300"/>
          </a:p>
        </p:txBody>
      </p:sp>
      <p:sp>
        <p:nvSpPr>
          <p:cNvPr id="16" name="Database and Reports Body"/>
          <p:cNvSpPr/>
          <p:nvPr/>
        </p:nvSpPr>
        <p:spPr>
          <a:xfrm>
            <a:off x="8315325" y="2105025"/>
            <a:ext cx="3133725" cy="2876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MongoDB collections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Mongoose schemas and validation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jsPDF and html2canvas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Admin analytics endpoints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PWA manifest and service worker</a:t>
            </a:r>
            <a:endParaRPr 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Architecture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System Architecture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High-level data flow from browser to database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07 / 30</a:t>
            </a:r>
            <a:endParaRPr lang="en-US" sz="1000"/>
          </a:p>
        </p:txBody>
      </p:sp>
      <p:sp>
        <p:nvSpPr>
          <p:cNvPr id="8" name="React Frontend"/>
          <p:cNvSpPr/>
          <p:nvPr/>
        </p:nvSpPr>
        <p:spPr>
          <a:xfrm>
            <a:off x="666750" y="1714500"/>
            <a:ext cx="2667000" cy="1143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React Frontend Title"/>
          <p:cNvSpPr/>
          <p:nvPr/>
        </p:nvSpPr>
        <p:spPr>
          <a:xfrm>
            <a:off x="838200" y="1847850"/>
            <a:ext cx="2324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React Frontend</a:t>
            </a:r>
            <a:endParaRPr lang="en-US" sz="1300"/>
          </a:p>
        </p:txBody>
      </p:sp>
      <p:sp>
        <p:nvSpPr>
          <p:cNvPr id="10" name="React Frontend Body"/>
          <p:cNvSpPr/>
          <p:nvPr/>
        </p:nvSpPr>
        <p:spPr>
          <a:xfrm>
            <a:off x="838200" y="2152650"/>
            <a:ext cx="2324100" cy="590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Pages, forms, dashboards, chatbot widget, protected routes</a:t>
            </a:r>
            <a:endParaRPr lang="en-US" sz="1400"/>
          </a:p>
        </p:txBody>
      </p:sp>
      <p:sp>
        <p:nvSpPr>
          <p:cNvPr id="11" name="Express API"/>
          <p:cNvSpPr/>
          <p:nvPr/>
        </p:nvSpPr>
        <p:spPr>
          <a:xfrm>
            <a:off x="4762500" y="1714500"/>
            <a:ext cx="2667000" cy="1143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Express API Title"/>
          <p:cNvSpPr/>
          <p:nvPr/>
        </p:nvSpPr>
        <p:spPr>
          <a:xfrm>
            <a:off x="4933950" y="1847850"/>
            <a:ext cx="2324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Express API</a:t>
            </a:r>
            <a:endParaRPr lang="en-US" sz="1300"/>
          </a:p>
        </p:txBody>
      </p:sp>
      <p:sp>
        <p:nvSpPr>
          <p:cNvPr id="13" name="Express API Body"/>
          <p:cNvSpPr/>
          <p:nvPr/>
        </p:nvSpPr>
        <p:spPr>
          <a:xfrm>
            <a:off x="4933950" y="2152650"/>
            <a:ext cx="2324100" cy="590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REST endpoints, auth middleware, validation, controllers</a:t>
            </a:r>
            <a:endParaRPr lang="en-US" sz="1400"/>
          </a:p>
        </p:txBody>
      </p:sp>
      <p:sp>
        <p:nvSpPr>
          <p:cNvPr id="14" name="MongoDB"/>
          <p:cNvSpPr/>
          <p:nvPr/>
        </p:nvSpPr>
        <p:spPr>
          <a:xfrm>
            <a:off x="8858250" y="1714500"/>
            <a:ext cx="2667000" cy="1143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5" name="MongoDB Title"/>
          <p:cNvSpPr/>
          <p:nvPr/>
        </p:nvSpPr>
        <p:spPr>
          <a:xfrm>
            <a:off x="9029700" y="1847850"/>
            <a:ext cx="2324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MongoDB</a:t>
            </a:r>
            <a:endParaRPr lang="en-US" sz="1300"/>
          </a:p>
        </p:txBody>
      </p:sp>
      <p:sp>
        <p:nvSpPr>
          <p:cNvPr id="16" name="MongoDB Body"/>
          <p:cNvSpPr/>
          <p:nvPr/>
        </p:nvSpPr>
        <p:spPr>
          <a:xfrm>
            <a:off x="9029700" y="2152650"/>
            <a:ext cx="2324100" cy="590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Students, fees, results, notices, messages, FAQs and more</a:t>
            </a:r>
            <a:endParaRPr lang="en-US" sz="1400"/>
          </a:p>
        </p:txBody>
      </p:sp>
      <p:sp>
        <p:nvSpPr>
          <p:cNvPr id="17" name="Authentication Layer"/>
          <p:cNvSpPr/>
          <p:nvPr/>
        </p:nvSpPr>
        <p:spPr>
          <a:xfrm>
            <a:off x="2000250" y="3714750"/>
            <a:ext cx="3429000" cy="12382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8" name="Authentication Layer Title"/>
          <p:cNvSpPr/>
          <p:nvPr/>
        </p:nvSpPr>
        <p:spPr>
          <a:xfrm>
            <a:off x="2171700" y="3848100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Authentication Layer</a:t>
            </a:r>
            <a:endParaRPr lang="en-US" sz="1300"/>
          </a:p>
        </p:txBody>
      </p:sp>
      <p:sp>
        <p:nvSpPr>
          <p:cNvPr id="19" name="Authentication Layer Body"/>
          <p:cNvSpPr/>
          <p:nvPr/>
        </p:nvSpPr>
        <p:spPr>
          <a:xfrm>
            <a:off x="2171700" y="4152900"/>
            <a:ext cx="3086100" cy="685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JWT token stored by frontend and attached by Axios interceptor</a:t>
            </a:r>
            <a:endParaRPr lang="en-US" sz="1400"/>
          </a:p>
        </p:txBody>
      </p:sp>
      <p:sp>
        <p:nvSpPr>
          <p:cNvPr id="20" name="Admin and Student Modules"/>
          <p:cNvSpPr/>
          <p:nvPr/>
        </p:nvSpPr>
        <p:spPr>
          <a:xfrm>
            <a:off x="6762750" y="3714750"/>
            <a:ext cx="3429000" cy="12382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21" name="Admin and Student Modules Title"/>
          <p:cNvSpPr/>
          <p:nvPr/>
        </p:nvSpPr>
        <p:spPr>
          <a:xfrm>
            <a:off x="6934200" y="3848100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Admin and Student Modules</a:t>
            </a:r>
            <a:endParaRPr lang="en-US" sz="1300"/>
          </a:p>
        </p:txBody>
      </p:sp>
      <p:sp>
        <p:nvSpPr>
          <p:cNvPr id="22" name="Admin and Student Modules Body"/>
          <p:cNvSpPr/>
          <p:nvPr/>
        </p:nvSpPr>
        <p:spPr>
          <a:xfrm>
            <a:off x="6934200" y="4152900"/>
            <a:ext cx="3086100" cy="685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Role-based routes split workflows between admin operations and student self-service</a:t>
            </a:r>
            <a:endParaRPr 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Code Organization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Codebase Folder Structure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Main folders and responsibilities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08 / 30</a:t>
            </a:r>
            <a:endParaRPr lang="en-US" sz="1000"/>
          </a:p>
        </p:txBody>
      </p:sp>
      <p:sp>
        <p:nvSpPr>
          <p:cNvPr id="8" name="Code Panel"/>
          <p:cNvSpPr/>
          <p:nvPr/>
        </p:nvSpPr>
        <p:spPr>
          <a:xfrm>
            <a:off x="666750" y="1619250"/>
            <a:ext cx="5048250" cy="3762375"/>
          </a:xfrm>
          <a:prstGeom prst="roundRect">
            <a:avLst/>
          </a:prstGeom>
          <a:solidFill>
            <a:srgbClr val="071827"/>
          </a:solidFill>
          <a:ln w="12700">
            <a:solidFill>
              <a:srgbClr val="2E5D87"/>
            </a:solidFill>
          </a:ln>
        </p:spPr>
      </p:sp>
      <p:sp>
        <p:nvSpPr>
          <p:cNvPr id="9" name="Code Text"/>
          <p:cNvSpPr/>
          <p:nvPr/>
        </p:nvSpPr>
        <p:spPr>
          <a:xfrm>
            <a:off x="838200" y="1771650"/>
            <a:ext cx="4705350" cy="3495675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D9F99D"/>
                </a:solidFill>
                <a:latin typeface="Consolas"/>
              </a:rPr>
              <a:t>katapa-college/</a:t>
            </a:r>
            <a:endParaRPr lang="en-US" sz="1400"/>
          </a:p>
          <a:p>
            <a:pPr algn="l"/>
            <a:r>
              <a:rPr lang="en-US" sz="1400">
                <a:solidFill>
                  <a:srgbClr val="D9F99D"/>
                </a:solidFill>
                <a:latin typeface="Consolas"/>
              </a:rPr>
              <a:t>  backend/</a:t>
            </a:r>
            <a:endParaRPr lang="en-US" sz="1400"/>
          </a:p>
          <a:p>
            <a:pPr algn="l"/>
            <a:r>
              <a:rPr lang="en-US" sz="1400">
                <a:solidFill>
                  <a:srgbClr val="D9F99D"/>
                </a:solidFill>
                <a:latin typeface="Consolas"/>
              </a:rPr>
              <a:t>    controllers/  -&gt; request logic</a:t>
            </a:r>
            <a:endParaRPr lang="en-US" sz="1400"/>
          </a:p>
          <a:p>
            <a:pPr algn="l"/>
            <a:r>
              <a:rPr lang="en-US" sz="1400">
                <a:solidFill>
                  <a:srgbClr val="D9F99D"/>
                </a:solidFill>
                <a:latin typeface="Consolas"/>
              </a:rPr>
              <a:t>    models/       -&gt; Mongoose schemas</a:t>
            </a:r>
            <a:endParaRPr lang="en-US" sz="1400"/>
          </a:p>
          <a:p>
            <a:pPr algn="l"/>
            <a:r>
              <a:rPr lang="en-US" sz="1400">
                <a:solidFill>
                  <a:srgbClr val="D9F99D"/>
                </a:solidFill>
                <a:latin typeface="Consolas"/>
              </a:rPr>
              <a:t>    routes/       -&gt; API endpoints</a:t>
            </a:r>
            <a:endParaRPr lang="en-US" sz="1400"/>
          </a:p>
          <a:p>
            <a:pPr algn="l"/>
            <a:r>
              <a:rPr lang="en-US" sz="1400">
                <a:solidFill>
                  <a:srgbClr val="D9F99D"/>
                </a:solidFill>
                <a:latin typeface="Consolas"/>
              </a:rPr>
              <a:t>    middleware/   -&gt; auth and errors</a:t>
            </a:r>
            <a:endParaRPr lang="en-US" sz="1400"/>
          </a:p>
          <a:p>
            <a:pPr algn="l"/>
            <a:r>
              <a:rPr lang="en-US" sz="1400">
                <a:solidFill>
                  <a:srgbClr val="D9F99D"/>
                </a:solidFill>
                <a:latin typeface="Consolas"/>
              </a:rPr>
              <a:t>    utils/        -&gt; email, SMS, notification</a:t>
            </a:r>
            <a:endParaRPr lang="en-US" sz="1400"/>
          </a:p>
          <a:p>
            <a:pPr algn="l"/>
            <a:r>
              <a:rPr lang="en-US" sz="1400">
                <a:solidFill>
                  <a:srgbClr val="D9F99D"/>
                </a:solidFill>
                <a:latin typeface="Consolas"/>
              </a:rPr>
              <a:t>    uploads/      -&gt; uploaded assets</a:t>
            </a:r>
            <a:endParaRPr lang="en-US" sz="1400"/>
          </a:p>
          <a:p>
            <a:pPr algn="l"/>
            <a:r>
              <a:rPr lang="en-US" sz="1400">
                <a:solidFill>
                  <a:srgbClr val="D9F99D"/>
                </a:solidFill>
                <a:latin typeface="Consolas"/>
              </a:rPr>
              <a:t>    server.js     -&gt; Express entry point</a:t>
            </a:r>
            <a:endParaRPr lang="en-US" sz="1400"/>
          </a:p>
        </p:txBody>
      </p:sp>
      <p:sp>
        <p:nvSpPr>
          <p:cNvPr id="10" name="Code Panel"/>
          <p:cNvSpPr/>
          <p:nvPr/>
        </p:nvSpPr>
        <p:spPr>
          <a:xfrm>
            <a:off x="6477000" y="1619250"/>
            <a:ext cx="5048250" cy="3762375"/>
          </a:xfrm>
          <a:prstGeom prst="roundRect">
            <a:avLst/>
          </a:prstGeom>
          <a:solidFill>
            <a:srgbClr val="071827"/>
          </a:solidFill>
          <a:ln w="12700">
            <a:solidFill>
              <a:srgbClr val="2E5D87"/>
            </a:solidFill>
          </a:ln>
        </p:spPr>
      </p:sp>
      <p:sp>
        <p:nvSpPr>
          <p:cNvPr id="11" name="Code Text"/>
          <p:cNvSpPr/>
          <p:nvPr/>
        </p:nvSpPr>
        <p:spPr>
          <a:xfrm>
            <a:off x="6648450" y="1771650"/>
            <a:ext cx="4705350" cy="3495675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D9F99D"/>
                </a:solidFill>
                <a:latin typeface="Consolas"/>
              </a:rPr>
              <a:t>  frontend/</a:t>
            </a:r>
            <a:endParaRPr lang="en-US" sz="1400"/>
          </a:p>
          <a:p>
            <a:pPr algn="l"/>
            <a:r>
              <a:rPr lang="en-US" sz="1400">
                <a:solidFill>
                  <a:srgbClr val="D9F99D"/>
                </a:solidFill>
                <a:latin typeface="Consolas"/>
              </a:rPr>
              <a:t>    src/pages/      -&gt; public/student pages</a:t>
            </a:r>
            <a:endParaRPr lang="en-US" sz="1400"/>
          </a:p>
          <a:p>
            <a:pPr algn="l"/>
            <a:r>
              <a:rPr lang="en-US" sz="1400">
                <a:solidFill>
                  <a:srgbClr val="D9F99D"/>
                </a:solidFill>
                <a:latin typeface="Consolas"/>
              </a:rPr>
              <a:t>    src/admin/      -&gt; admin dashboard pages</a:t>
            </a:r>
            <a:endParaRPr lang="en-US" sz="1400"/>
          </a:p>
          <a:p>
            <a:pPr algn="l"/>
            <a:r>
              <a:rPr lang="en-US" sz="1400">
                <a:solidFill>
                  <a:srgbClr val="D9F99D"/>
                </a:solidFill>
                <a:latin typeface="Consolas"/>
              </a:rPr>
              <a:t>    src/components/ -&gt; shared UI components</a:t>
            </a:r>
            <a:endParaRPr lang="en-US" sz="1400"/>
          </a:p>
          <a:p>
            <a:pPr algn="l"/>
            <a:r>
              <a:rPr lang="en-US" sz="1400">
                <a:solidFill>
                  <a:srgbClr val="D9F99D"/>
                </a:solidFill>
                <a:latin typeface="Consolas"/>
              </a:rPr>
              <a:t>    src/context/    -&gt; auth, language, theme</a:t>
            </a:r>
            <a:endParaRPr lang="en-US" sz="1400"/>
          </a:p>
          <a:p>
            <a:pPr algn="l"/>
            <a:r>
              <a:rPr lang="en-US" sz="1400">
                <a:solidFill>
                  <a:srgbClr val="D9F99D"/>
                </a:solidFill>
                <a:latin typeface="Consolas"/>
              </a:rPr>
              <a:t>    src/utils/      -&gt; Axios and PDF helpers</a:t>
            </a:r>
            <a:endParaRPr lang="en-US" sz="1400"/>
          </a:p>
          <a:p>
            <a:pPr algn="l"/>
            <a:r>
              <a:rPr lang="en-US" sz="1400">
                <a:solidFill>
                  <a:srgbClr val="D9F99D"/>
                </a:solidFill>
                <a:latin typeface="Consolas"/>
              </a:rPr>
              <a:t>    public/         -&gt; PWA assets</a:t>
            </a:r>
            <a:endParaRPr lang="en-US" sz="1400"/>
          </a:p>
          <a:p>
            <a:pPr algn="l"/>
            <a:r>
              <a:rPr lang="en-US" sz="1400">
                <a:solidFill>
                  <a:srgbClr val="D9F99D"/>
                </a:solidFill>
                <a:latin typeface="Consolas"/>
              </a:rPr>
              <a:t>    vite.config.js  -&gt; Vite + API proxy</a:t>
            </a:r>
            <a:endParaRPr 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Frontend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Frontend Overview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React single-page application with routed public, student, and admin views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09 / 30</a:t>
            </a:r>
            <a:endParaRPr lang="en-US" sz="1000"/>
          </a:p>
        </p:txBody>
      </p:sp>
      <p:sp>
        <p:nvSpPr>
          <p:cNvPr id="8" name="Application Shell"/>
          <p:cNvSpPr/>
          <p:nvPr/>
        </p:nvSpPr>
        <p:spPr>
          <a:xfrm>
            <a:off x="571500" y="1666875"/>
            <a:ext cx="3381375" cy="3333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Application Shell Title"/>
          <p:cNvSpPr/>
          <p:nvPr/>
        </p:nvSpPr>
        <p:spPr>
          <a:xfrm>
            <a:off x="742950" y="1800225"/>
            <a:ext cx="3038475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Application Shell</a:t>
            </a:r>
            <a:endParaRPr lang="en-US" sz="1300"/>
          </a:p>
        </p:txBody>
      </p:sp>
      <p:sp>
        <p:nvSpPr>
          <p:cNvPr id="10" name="Application Shell Body"/>
          <p:cNvSpPr/>
          <p:nvPr/>
        </p:nvSpPr>
        <p:spPr>
          <a:xfrm>
            <a:off x="742950" y="2105025"/>
            <a:ext cx="3038475" cy="2781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App.jsx defines all routes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Lazy loading with React Suspense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PrivateRoute protects student pages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AdminRoute protects admin panel</a:t>
            </a:r>
            <a:endParaRPr lang="en-US" sz="1400"/>
          </a:p>
        </p:txBody>
      </p:sp>
      <p:sp>
        <p:nvSpPr>
          <p:cNvPr id="11" name="Shared Components"/>
          <p:cNvSpPr/>
          <p:nvPr/>
        </p:nvSpPr>
        <p:spPr>
          <a:xfrm>
            <a:off x="4400550" y="1666875"/>
            <a:ext cx="3381375" cy="3333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Shared Components Title"/>
          <p:cNvSpPr/>
          <p:nvPr/>
        </p:nvSpPr>
        <p:spPr>
          <a:xfrm>
            <a:off x="4572000" y="1800225"/>
            <a:ext cx="3038475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Shared Components</a:t>
            </a:r>
            <a:endParaRPr lang="en-US" sz="1300"/>
          </a:p>
        </p:txBody>
      </p:sp>
      <p:sp>
        <p:nvSpPr>
          <p:cNvPr id="13" name="Shared Components Body"/>
          <p:cNvSpPr/>
          <p:nvPr/>
        </p:nvSpPr>
        <p:spPr>
          <a:xfrm>
            <a:off x="4572000" y="2105025"/>
            <a:ext cx="3038475" cy="2781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Navbar and Footer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Floating Chatbot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NotificationBell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Hero3D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CourseCard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Loader and SectionHeader</a:t>
            </a:r>
            <a:endParaRPr lang="en-US" sz="1400"/>
          </a:p>
        </p:txBody>
      </p:sp>
      <p:sp>
        <p:nvSpPr>
          <p:cNvPr id="14" name="Frontend Utilities"/>
          <p:cNvSpPr/>
          <p:nvPr/>
        </p:nvSpPr>
        <p:spPr>
          <a:xfrm>
            <a:off x="8229600" y="1666875"/>
            <a:ext cx="3381375" cy="3333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5" name="Frontend Utilities Title"/>
          <p:cNvSpPr/>
          <p:nvPr/>
        </p:nvSpPr>
        <p:spPr>
          <a:xfrm>
            <a:off x="8401050" y="1800225"/>
            <a:ext cx="3038475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Frontend Utilities</a:t>
            </a:r>
            <a:endParaRPr lang="en-US" sz="1300"/>
          </a:p>
        </p:txBody>
      </p:sp>
      <p:sp>
        <p:nvSpPr>
          <p:cNvPr id="16" name="Frontend Utilities Body"/>
          <p:cNvSpPr/>
          <p:nvPr/>
        </p:nvSpPr>
        <p:spPr>
          <a:xfrm>
            <a:off x="8401050" y="2105025"/>
            <a:ext cx="3038475" cy="2781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Axios instance with token interceptor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PDF report helpers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Language and theme contexts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PWA install prompt and service worker</a:t>
            </a:r>
            <a:endParaRPr 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Frontend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Public Website Pages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Pages available before login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10 / 30</a:t>
            </a:r>
            <a:endParaRPr lang="en-US" sz="1000"/>
          </a:p>
        </p:txBody>
      </p:sp>
      <p:sp>
        <p:nvSpPr>
          <p:cNvPr id="8" name="College Information"/>
          <p:cNvSpPr/>
          <p:nvPr/>
        </p:nvSpPr>
        <p:spPr>
          <a:xfrm>
            <a:off x="523875" y="1619250"/>
            <a:ext cx="3429000" cy="3714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College Information Title"/>
          <p:cNvSpPr/>
          <p:nvPr/>
        </p:nvSpPr>
        <p:spPr>
          <a:xfrm>
            <a:off x="695325" y="1752600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College Information</a:t>
            </a:r>
            <a:endParaRPr lang="en-US" sz="1300"/>
          </a:p>
        </p:txBody>
      </p:sp>
      <p:sp>
        <p:nvSpPr>
          <p:cNvPr id="10" name="College Information Body"/>
          <p:cNvSpPr/>
          <p:nvPr/>
        </p:nvSpPr>
        <p:spPr>
          <a:xfrm>
            <a:off x="695325" y="2057400"/>
            <a:ext cx="3086100" cy="3162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Home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About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Courses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Faculty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Gallery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Events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Notices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Placements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Alumni portal</a:t>
            </a:r>
            <a:endParaRPr lang="en-US" sz="1500"/>
          </a:p>
        </p:txBody>
      </p:sp>
      <p:sp>
        <p:nvSpPr>
          <p:cNvPr id="11" name="Conversion and Support"/>
          <p:cNvSpPr/>
          <p:nvPr/>
        </p:nvSpPr>
        <p:spPr>
          <a:xfrm>
            <a:off x="4381500" y="1619250"/>
            <a:ext cx="3429000" cy="3714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Conversion and Support Title"/>
          <p:cNvSpPr/>
          <p:nvPr/>
        </p:nvSpPr>
        <p:spPr>
          <a:xfrm>
            <a:off x="4552950" y="1752600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Conversion and Support</a:t>
            </a:r>
            <a:endParaRPr lang="en-US" sz="1300"/>
          </a:p>
        </p:txBody>
      </p:sp>
      <p:sp>
        <p:nvSpPr>
          <p:cNvPr id="13" name="Conversion and Support Body"/>
          <p:cNvSpPr/>
          <p:nvPr/>
        </p:nvSpPr>
        <p:spPr>
          <a:xfrm>
            <a:off x="4552950" y="2057400"/>
            <a:ext cx="3086100" cy="3162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Admission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Contact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Chatbot page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Floating chatbot on the site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Login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Register</a:t>
            </a:r>
            <a:endParaRPr lang="en-US" sz="1500"/>
          </a:p>
        </p:txBody>
      </p:sp>
      <p:sp>
        <p:nvSpPr>
          <p:cNvPr id="14" name="Public Page Goal"/>
          <p:cNvSpPr/>
          <p:nvPr/>
        </p:nvSpPr>
        <p:spPr>
          <a:xfrm>
            <a:off x="8239125" y="1619250"/>
            <a:ext cx="3429000" cy="3714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5" name="Public Page Goal Title"/>
          <p:cNvSpPr/>
          <p:nvPr/>
        </p:nvSpPr>
        <p:spPr>
          <a:xfrm>
            <a:off x="8410575" y="1752600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Public Page Goal</a:t>
            </a:r>
            <a:endParaRPr lang="en-US" sz="1300"/>
          </a:p>
        </p:txBody>
      </p:sp>
      <p:sp>
        <p:nvSpPr>
          <p:cNvPr id="16" name="Public Page Goal Body"/>
          <p:cNvSpPr/>
          <p:nvPr/>
        </p:nvSpPr>
        <p:spPr>
          <a:xfrm>
            <a:off x="8410575" y="2057400"/>
            <a:ext cx="3086100" cy="3162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Help visitors understand the college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Convert interested visitors into applicants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Provide self-service information</a:t>
            </a:r>
            <a:endParaRPr lang="en-US" sz="1500"/>
          </a:p>
          <a:p>
            <a:pPr algn="l"/>
            <a:r>
              <a:rPr lang="en-US" sz="1500">
                <a:solidFill>
                  <a:srgbClr val="E7EEF8"/>
                </a:solidFill>
                <a:latin typeface="Aptos"/>
              </a:rPr>
              <a:t>- Reduce basic enquiry load</a:t>
            </a:r>
            <a:endParaRPr lang="en-US"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Frontend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Student Portal Pages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Self-service pages for logged-in students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11 / 30</a:t>
            </a:r>
            <a:endParaRPr lang="en-US" sz="1000"/>
          </a:p>
        </p:txBody>
      </p:sp>
      <p:sp>
        <p:nvSpPr>
          <p:cNvPr id="8" name="Academic Services"/>
          <p:cNvSpPr/>
          <p:nvPr/>
        </p:nvSpPr>
        <p:spPr>
          <a:xfrm>
            <a:off x="571500" y="1571625"/>
            <a:ext cx="3429000" cy="39052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Academic Services Title"/>
          <p:cNvSpPr/>
          <p:nvPr/>
        </p:nvSpPr>
        <p:spPr>
          <a:xfrm>
            <a:off x="742950" y="1704975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Academic Services</a:t>
            </a:r>
            <a:endParaRPr lang="en-US" sz="1300"/>
          </a:p>
        </p:txBody>
      </p:sp>
      <p:sp>
        <p:nvSpPr>
          <p:cNvPr id="10" name="Academic Services Body"/>
          <p:cNvSpPr/>
          <p:nvPr/>
        </p:nvSpPr>
        <p:spPr>
          <a:xfrm>
            <a:off x="742950" y="2009775"/>
            <a:ext cx="3086100" cy="3352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My Attendance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My Timetable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My Results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My Assignments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My Exams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MCQ Exam</a:t>
            </a:r>
            <a:endParaRPr lang="en-US" sz="1400"/>
          </a:p>
        </p:txBody>
      </p:sp>
      <p:sp>
        <p:nvSpPr>
          <p:cNvPr id="11" name="Administrative Services"/>
          <p:cNvSpPr/>
          <p:nvPr/>
        </p:nvSpPr>
        <p:spPr>
          <a:xfrm>
            <a:off x="4381500" y="1571625"/>
            <a:ext cx="3429000" cy="39052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Administrative Services Title"/>
          <p:cNvSpPr/>
          <p:nvPr/>
        </p:nvSpPr>
        <p:spPr>
          <a:xfrm>
            <a:off x="4552950" y="1704975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Administrative Services</a:t>
            </a:r>
            <a:endParaRPr lang="en-US" sz="1300"/>
          </a:p>
        </p:txBody>
      </p:sp>
      <p:sp>
        <p:nvSpPr>
          <p:cNvPr id="13" name="Administrative Services Body"/>
          <p:cNvSpPr/>
          <p:nvPr/>
        </p:nvSpPr>
        <p:spPr>
          <a:xfrm>
            <a:off x="4552950" y="2009775"/>
            <a:ext cx="3086100" cy="3352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My Fees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My Hall Ticket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My Certificates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My Scholarships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My Leave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My Library</a:t>
            </a:r>
            <a:endParaRPr lang="en-US" sz="1400"/>
          </a:p>
        </p:txBody>
      </p:sp>
      <p:sp>
        <p:nvSpPr>
          <p:cNvPr id="14" name="Personal Services"/>
          <p:cNvSpPr/>
          <p:nvPr/>
        </p:nvSpPr>
        <p:spPr>
          <a:xfrm>
            <a:off x="8191500" y="1571625"/>
            <a:ext cx="3429000" cy="39052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5" name="Personal Services Title"/>
          <p:cNvSpPr/>
          <p:nvPr/>
        </p:nvSpPr>
        <p:spPr>
          <a:xfrm>
            <a:off x="8362950" y="1704975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Personal Services</a:t>
            </a:r>
            <a:endParaRPr lang="en-US" sz="1300"/>
          </a:p>
        </p:txBody>
      </p:sp>
      <p:sp>
        <p:nvSpPr>
          <p:cNvPr id="16" name="Personal Services Body"/>
          <p:cNvSpPr/>
          <p:nvPr/>
        </p:nvSpPr>
        <p:spPr>
          <a:xfrm>
            <a:off x="8362950" y="2009775"/>
            <a:ext cx="3086100" cy="3352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Profile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My ID Card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My Feedback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My Chat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Notifications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Chatbot personal status summary</a:t>
            </a:r>
            <a:endParaRPr lang="en-US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Frontend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Admin Panel Pages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Operational dashboard for college staff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12 / 30</a:t>
            </a:r>
            <a:endParaRPr lang="en-US" sz="1000"/>
          </a:p>
        </p:txBody>
      </p:sp>
      <p:sp>
        <p:nvSpPr>
          <p:cNvPr id="8" name="Core Admin"/>
          <p:cNvSpPr/>
          <p:nvPr/>
        </p:nvSpPr>
        <p:spPr>
          <a:xfrm>
            <a:off x="428625" y="1524000"/>
            <a:ext cx="2667000" cy="40005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Core Admin Title"/>
          <p:cNvSpPr/>
          <p:nvPr/>
        </p:nvSpPr>
        <p:spPr>
          <a:xfrm>
            <a:off x="600075" y="1657350"/>
            <a:ext cx="2324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Core Admin</a:t>
            </a:r>
            <a:endParaRPr lang="en-US" sz="1300"/>
          </a:p>
        </p:txBody>
      </p:sp>
      <p:sp>
        <p:nvSpPr>
          <p:cNvPr id="10" name="Core Admin Body"/>
          <p:cNvSpPr/>
          <p:nvPr/>
        </p:nvSpPr>
        <p:spPr>
          <a:xfrm>
            <a:off x="600075" y="1962150"/>
            <a:ext cx="2324100" cy="3448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Dashboard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Students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Add Course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Manage Courses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Manage Faculty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Contacts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Upload Gallery</a:t>
            </a:r>
            <a:endParaRPr lang="en-US" sz="1300"/>
          </a:p>
        </p:txBody>
      </p:sp>
      <p:sp>
        <p:nvSpPr>
          <p:cNvPr id="11" name="Academic Admin"/>
          <p:cNvSpPr/>
          <p:nvPr/>
        </p:nvSpPr>
        <p:spPr>
          <a:xfrm>
            <a:off x="3333750" y="1524000"/>
            <a:ext cx="2667000" cy="40005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Academic Admin Title"/>
          <p:cNvSpPr/>
          <p:nvPr/>
        </p:nvSpPr>
        <p:spPr>
          <a:xfrm>
            <a:off x="3505200" y="1657350"/>
            <a:ext cx="2324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Academic Admin</a:t>
            </a:r>
            <a:endParaRPr lang="en-US" sz="1300"/>
          </a:p>
        </p:txBody>
      </p:sp>
      <p:sp>
        <p:nvSpPr>
          <p:cNvPr id="13" name="Academic Admin Body"/>
          <p:cNvSpPr/>
          <p:nvPr/>
        </p:nvSpPr>
        <p:spPr>
          <a:xfrm>
            <a:off x="3505200" y="1962150"/>
            <a:ext cx="2324100" cy="3448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Results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Attendance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Timetable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Hall Tickets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Assignments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Online Exams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Event Calendar</a:t>
            </a:r>
            <a:endParaRPr lang="en-US" sz="1300"/>
          </a:p>
        </p:txBody>
      </p:sp>
      <p:sp>
        <p:nvSpPr>
          <p:cNvPr id="14" name="Services Admin"/>
          <p:cNvSpPr/>
          <p:nvPr/>
        </p:nvSpPr>
        <p:spPr>
          <a:xfrm>
            <a:off x="6238875" y="1524000"/>
            <a:ext cx="2667000" cy="40005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5" name="Services Admin Title"/>
          <p:cNvSpPr/>
          <p:nvPr/>
        </p:nvSpPr>
        <p:spPr>
          <a:xfrm>
            <a:off x="6410325" y="1657350"/>
            <a:ext cx="2324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Services Admin</a:t>
            </a:r>
            <a:endParaRPr lang="en-US" sz="1300"/>
          </a:p>
        </p:txBody>
      </p:sp>
      <p:sp>
        <p:nvSpPr>
          <p:cNvPr id="16" name="Services Admin Body"/>
          <p:cNvSpPr/>
          <p:nvPr/>
        </p:nvSpPr>
        <p:spPr>
          <a:xfrm>
            <a:off x="6410325" y="1962150"/>
            <a:ext cx="2324100" cy="3448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Fees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Library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Leave Applications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Scholarships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Feedback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Certificates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Hostel Management</a:t>
            </a:r>
            <a:endParaRPr lang="en-US" sz="1300"/>
          </a:p>
        </p:txBody>
      </p:sp>
      <p:sp>
        <p:nvSpPr>
          <p:cNvPr id="17" name="Communication"/>
          <p:cNvSpPr/>
          <p:nvPr/>
        </p:nvSpPr>
        <p:spPr>
          <a:xfrm>
            <a:off x="9144000" y="1524000"/>
            <a:ext cx="2667000" cy="40005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8" name="Communication Title"/>
          <p:cNvSpPr/>
          <p:nvPr/>
        </p:nvSpPr>
        <p:spPr>
          <a:xfrm>
            <a:off x="9315450" y="1657350"/>
            <a:ext cx="2324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Communication</a:t>
            </a:r>
            <a:endParaRPr lang="en-US" sz="1300"/>
          </a:p>
        </p:txBody>
      </p:sp>
      <p:sp>
        <p:nvSpPr>
          <p:cNvPr id="19" name="Communication Body"/>
          <p:cNvSpPr/>
          <p:nvPr/>
        </p:nvSpPr>
        <p:spPr>
          <a:xfrm>
            <a:off x="9315450" y="1962150"/>
            <a:ext cx="2324100" cy="3448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Emails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Chat / Messages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Reports and Analytics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Placements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Chatbot FAQs</a:t>
            </a:r>
            <a:endParaRPr lang="en-US"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Backend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Backend Overview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Express API organized by route, controller, model, middleware, and utility layers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13 / 30</a:t>
            </a:r>
            <a:endParaRPr lang="en-US" sz="1000"/>
          </a:p>
        </p:txBody>
      </p:sp>
      <p:sp>
        <p:nvSpPr>
          <p:cNvPr id="8" name="server.js"/>
          <p:cNvSpPr/>
          <p:nvPr/>
        </p:nvSpPr>
        <p:spPr>
          <a:xfrm>
            <a:off x="571500" y="1714500"/>
            <a:ext cx="3333750" cy="31432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server.js Title"/>
          <p:cNvSpPr/>
          <p:nvPr/>
        </p:nvSpPr>
        <p:spPr>
          <a:xfrm>
            <a:off x="742950" y="1847850"/>
            <a:ext cx="29908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server.js</a:t>
            </a:r>
            <a:endParaRPr lang="en-US" sz="1300"/>
          </a:p>
        </p:txBody>
      </p:sp>
      <p:sp>
        <p:nvSpPr>
          <p:cNvPr id="10" name="server.js Body"/>
          <p:cNvSpPr/>
          <p:nvPr/>
        </p:nvSpPr>
        <p:spPr>
          <a:xfrm>
            <a:off x="742950" y="2152650"/>
            <a:ext cx="2990850" cy="2590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Loads environment variables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Connects MongoDB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Configures CORS and JSON body parsing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Serves uploads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Registers API routes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Adds health check and error middleware</a:t>
            </a:r>
            <a:endParaRPr lang="en-US" sz="1400"/>
          </a:p>
        </p:txBody>
      </p:sp>
      <p:sp>
        <p:nvSpPr>
          <p:cNvPr id="11" name="Controller Layer"/>
          <p:cNvSpPr/>
          <p:nvPr/>
        </p:nvSpPr>
        <p:spPr>
          <a:xfrm>
            <a:off x="4429125" y="1714500"/>
            <a:ext cx="3333750" cy="31432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Controller Layer Title"/>
          <p:cNvSpPr/>
          <p:nvPr/>
        </p:nvSpPr>
        <p:spPr>
          <a:xfrm>
            <a:off x="4600575" y="1847850"/>
            <a:ext cx="29908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Controller Layer</a:t>
            </a:r>
            <a:endParaRPr lang="en-US" sz="1300"/>
          </a:p>
        </p:txBody>
      </p:sp>
      <p:sp>
        <p:nvSpPr>
          <p:cNvPr id="13" name="Controller Layer Body"/>
          <p:cNvSpPr/>
          <p:nvPr/>
        </p:nvSpPr>
        <p:spPr>
          <a:xfrm>
            <a:off x="4600575" y="2152650"/>
            <a:ext cx="2990850" cy="2590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Handles business logic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Performs validation and CRUD operations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Calls utilities for notifications, email and SMS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Returns consistent JSON responses</a:t>
            </a:r>
            <a:endParaRPr lang="en-US" sz="1400"/>
          </a:p>
        </p:txBody>
      </p:sp>
      <p:sp>
        <p:nvSpPr>
          <p:cNvPr id="14" name="Middleware Layer"/>
          <p:cNvSpPr/>
          <p:nvPr/>
        </p:nvSpPr>
        <p:spPr>
          <a:xfrm>
            <a:off x="8286750" y="1714500"/>
            <a:ext cx="3333750" cy="31432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5" name="Middleware Layer Title"/>
          <p:cNvSpPr/>
          <p:nvPr/>
        </p:nvSpPr>
        <p:spPr>
          <a:xfrm>
            <a:off x="8458200" y="1847850"/>
            <a:ext cx="29908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Middleware Layer</a:t>
            </a:r>
            <a:endParaRPr lang="en-US" sz="1300"/>
          </a:p>
        </p:txBody>
      </p:sp>
      <p:sp>
        <p:nvSpPr>
          <p:cNvPr id="16" name="Middleware Layer Body"/>
          <p:cNvSpPr/>
          <p:nvPr/>
        </p:nvSpPr>
        <p:spPr>
          <a:xfrm>
            <a:off x="8458200" y="2152650"/>
            <a:ext cx="2990850" cy="2590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protect validates JWT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adminOnly restricts admin operations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notFound and errorHandler standardize API errors</a:t>
            </a:r>
            <a:endParaRPr 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Backend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API Route Inventory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Registered REST API groups in backend/server.js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14 / 30</a:t>
            </a:r>
            <a:endParaRPr lang="en-US" sz="1000"/>
          </a:p>
        </p:txBody>
      </p:sp>
      <p:sp>
        <p:nvSpPr>
          <p:cNvPr id="8" name="Code Panel"/>
          <p:cNvSpPr/>
          <p:nvPr/>
        </p:nvSpPr>
        <p:spPr>
          <a:xfrm>
            <a:off x="523875" y="1476375"/>
            <a:ext cx="3524250" cy="4095750"/>
          </a:xfrm>
          <a:prstGeom prst="roundRect">
            <a:avLst/>
          </a:prstGeom>
          <a:solidFill>
            <a:srgbClr val="071827"/>
          </a:solidFill>
          <a:ln w="12700">
            <a:solidFill>
              <a:srgbClr val="2E5D87"/>
            </a:solidFill>
          </a:ln>
        </p:spPr>
      </p:sp>
      <p:sp>
        <p:nvSpPr>
          <p:cNvPr id="9" name="Code Text"/>
          <p:cNvSpPr/>
          <p:nvPr/>
        </p:nvSpPr>
        <p:spPr>
          <a:xfrm>
            <a:off x="695325" y="1628775"/>
            <a:ext cx="3181350" cy="3829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/api/auth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/api/students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/api/courses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/api/contacts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/api/gallery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/api/faculty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/api/fees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/api/notices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/api/results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/api/attendance</a:t>
            </a:r>
            <a:endParaRPr lang="en-US" sz="1600"/>
          </a:p>
        </p:txBody>
      </p:sp>
      <p:sp>
        <p:nvSpPr>
          <p:cNvPr id="10" name="Code Panel"/>
          <p:cNvSpPr/>
          <p:nvPr/>
        </p:nvSpPr>
        <p:spPr>
          <a:xfrm>
            <a:off x="4333875" y="1476375"/>
            <a:ext cx="3524250" cy="4095750"/>
          </a:xfrm>
          <a:prstGeom prst="roundRect">
            <a:avLst/>
          </a:prstGeom>
          <a:solidFill>
            <a:srgbClr val="071827"/>
          </a:solidFill>
          <a:ln w="12700">
            <a:solidFill>
              <a:srgbClr val="2E5D87"/>
            </a:solidFill>
          </a:ln>
        </p:spPr>
      </p:sp>
      <p:sp>
        <p:nvSpPr>
          <p:cNvPr id="11" name="Code Text"/>
          <p:cNvSpPr/>
          <p:nvPr/>
        </p:nvSpPr>
        <p:spPr>
          <a:xfrm>
            <a:off x="4505325" y="1628775"/>
            <a:ext cx="3181350" cy="3829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/api/timetable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/api/email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/api/analytics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/api/hall-tickets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/api/leaves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/api/library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/api/events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/api/scholarships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/api/feedback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/api/certificates</a:t>
            </a:r>
            <a:endParaRPr lang="en-US" sz="1600"/>
          </a:p>
        </p:txBody>
      </p:sp>
      <p:sp>
        <p:nvSpPr>
          <p:cNvPr id="12" name="Code Panel"/>
          <p:cNvSpPr/>
          <p:nvPr/>
        </p:nvSpPr>
        <p:spPr>
          <a:xfrm>
            <a:off x="8143875" y="1476375"/>
            <a:ext cx="3524250" cy="4095750"/>
          </a:xfrm>
          <a:prstGeom prst="roundRect">
            <a:avLst/>
          </a:prstGeom>
          <a:solidFill>
            <a:srgbClr val="071827"/>
          </a:solidFill>
          <a:ln w="12700">
            <a:solidFill>
              <a:srgbClr val="2E5D87"/>
            </a:solidFill>
          </a:ln>
        </p:spPr>
      </p:sp>
      <p:sp>
        <p:nvSpPr>
          <p:cNvPr id="13" name="Code Text"/>
          <p:cNvSpPr/>
          <p:nvPr/>
        </p:nvSpPr>
        <p:spPr>
          <a:xfrm>
            <a:off x="8315325" y="1628775"/>
            <a:ext cx="3181350" cy="3829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/api/hostels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/api/assignments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/api/alumni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/api/placements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/api/mcq-exams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/api/messages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/api/notifications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/api/exams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/api/chatbot</a:t>
            </a:r>
            <a:endParaRPr lang="en-US" sz="1600"/>
          </a:p>
          <a:p>
            <a:pPr algn="l"/>
            <a:r>
              <a:rPr lang="en-US" sz="1600">
                <a:solidFill>
                  <a:srgbClr val="D9F99D"/>
                </a:solidFill>
                <a:latin typeface="Consolas"/>
              </a:rPr>
              <a:t>/api/health</a:t>
            </a:r>
            <a:endParaRPr lang="en-US"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Database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Database Overview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MongoDB with Mongoose schemas for each college domain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15 / 30</a:t>
            </a:r>
            <a:endParaRPr lang="en-US" sz="1000"/>
          </a:p>
        </p:txBody>
      </p:sp>
      <p:sp>
        <p:nvSpPr>
          <p:cNvPr id="8" name="Database Pattern"/>
          <p:cNvSpPr/>
          <p:nvPr/>
        </p:nvSpPr>
        <p:spPr>
          <a:xfrm>
            <a:off x="666750" y="1666875"/>
            <a:ext cx="3286125" cy="3333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Database Pattern Title"/>
          <p:cNvSpPr/>
          <p:nvPr/>
        </p:nvSpPr>
        <p:spPr>
          <a:xfrm>
            <a:off x="838200" y="1800225"/>
            <a:ext cx="2943225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Database Pattern</a:t>
            </a:r>
            <a:endParaRPr lang="en-US" sz="1300"/>
          </a:p>
        </p:txBody>
      </p:sp>
      <p:sp>
        <p:nvSpPr>
          <p:cNvPr id="10" name="Database Pattern Body"/>
          <p:cNvSpPr/>
          <p:nvPr/>
        </p:nvSpPr>
        <p:spPr>
          <a:xfrm>
            <a:off x="838200" y="2105025"/>
            <a:ext cx="2943225" cy="2781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One model per business entity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ObjectId references link users, students, courses, fees and results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Timestamps preserve audit history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Schema validation protects data shape</a:t>
            </a:r>
            <a:endParaRPr lang="en-US" sz="1400"/>
          </a:p>
        </p:txBody>
      </p:sp>
      <p:sp>
        <p:nvSpPr>
          <p:cNvPr id="11" name="Relationship Examples"/>
          <p:cNvSpPr/>
          <p:nvPr/>
        </p:nvSpPr>
        <p:spPr>
          <a:xfrm>
            <a:off x="4429125" y="1666875"/>
            <a:ext cx="3286125" cy="3333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Relationship Examples Title"/>
          <p:cNvSpPr/>
          <p:nvPr/>
        </p:nvSpPr>
        <p:spPr>
          <a:xfrm>
            <a:off x="4600575" y="1800225"/>
            <a:ext cx="2943225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Relationship Examples</a:t>
            </a:r>
            <a:endParaRPr lang="en-US" sz="1300"/>
          </a:p>
        </p:txBody>
      </p:sp>
      <p:sp>
        <p:nvSpPr>
          <p:cNvPr id="13" name="Relationship Examples Body"/>
          <p:cNvSpPr/>
          <p:nvPr/>
        </p:nvSpPr>
        <p:spPr>
          <a:xfrm>
            <a:off x="4600575" y="2105025"/>
            <a:ext cx="2943225" cy="2781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Student references User and Course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Fee references Student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Result references Student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Assignment references Course and submissions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Messages reference sender and receiver</a:t>
            </a:r>
            <a:endParaRPr lang="en-US" sz="1400"/>
          </a:p>
        </p:txBody>
      </p:sp>
      <p:sp>
        <p:nvSpPr>
          <p:cNvPr id="14" name="Storage Areas"/>
          <p:cNvSpPr/>
          <p:nvPr/>
        </p:nvSpPr>
        <p:spPr>
          <a:xfrm>
            <a:off x="8191500" y="1666875"/>
            <a:ext cx="3286125" cy="3333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5" name="Storage Areas Title"/>
          <p:cNvSpPr/>
          <p:nvPr/>
        </p:nvSpPr>
        <p:spPr>
          <a:xfrm>
            <a:off x="8362950" y="1800225"/>
            <a:ext cx="2943225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Storage Areas</a:t>
            </a:r>
            <a:endParaRPr lang="en-US" sz="1300"/>
          </a:p>
        </p:txBody>
      </p:sp>
      <p:sp>
        <p:nvSpPr>
          <p:cNvPr id="16" name="Storage Areas Body"/>
          <p:cNvSpPr/>
          <p:nvPr/>
        </p:nvSpPr>
        <p:spPr>
          <a:xfrm>
            <a:off x="8362950" y="2105025"/>
            <a:ext cx="2943225" cy="2781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Academic records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Financial records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Communication records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Uploaded asset metadata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Chatbot FAQ and learning data</a:t>
            </a:r>
            <a:endParaRPr lang="en-US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Database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Database Model Inventory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Main Mongoose models found in backend/models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16 / 30</a:t>
            </a:r>
            <a:endParaRPr lang="en-US" sz="1000"/>
          </a:p>
        </p:txBody>
      </p:sp>
      <p:sp>
        <p:nvSpPr>
          <p:cNvPr id="8" name="Code Panel"/>
          <p:cNvSpPr/>
          <p:nvPr/>
        </p:nvSpPr>
        <p:spPr>
          <a:xfrm>
            <a:off x="476250" y="1428750"/>
            <a:ext cx="3476625" cy="4286250"/>
          </a:xfrm>
          <a:prstGeom prst="roundRect">
            <a:avLst/>
          </a:prstGeom>
          <a:solidFill>
            <a:srgbClr val="071827"/>
          </a:solidFill>
          <a:ln w="12700">
            <a:solidFill>
              <a:srgbClr val="2E5D87"/>
            </a:solidFill>
          </a:ln>
        </p:spPr>
      </p:sp>
      <p:sp>
        <p:nvSpPr>
          <p:cNvPr id="9" name="Code Text"/>
          <p:cNvSpPr/>
          <p:nvPr/>
        </p:nvSpPr>
        <p:spPr>
          <a:xfrm>
            <a:off x="647700" y="1581150"/>
            <a:ext cx="3133725" cy="4019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500">
                <a:solidFill>
                  <a:srgbClr val="D9F99D"/>
                </a:solidFill>
                <a:latin typeface="Consolas"/>
              </a:rPr>
              <a:t>User, Student, Course, Faculty</a:t>
            </a:r>
            <a:endParaRPr lang="en-US" sz="1500"/>
          </a:p>
          <a:p>
            <a:pPr algn="l"/>
            <a:r>
              <a:rPr lang="en-US" sz="1500">
                <a:solidFill>
                  <a:srgbClr val="D9F99D"/>
                </a:solidFill>
                <a:latin typeface="Consolas"/>
              </a:rPr>
              <a:t>Fee, Attendance, Timetable</a:t>
            </a:r>
            <a:endParaRPr lang="en-US" sz="1500"/>
          </a:p>
          <a:p>
            <a:pPr algn="l"/>
            <a:r>
              <a:rPr lang="en-US" sz="1500">
                <a:solidFill>
                  <a:srgbClr val="D9F99D"/>
                </a:solidFill>
                <a:latin typeface="Consolas"/>
              </a:rPr>
              <a:t>Result, Exam, MCQExam</a:t>
            </a:r>
            <a:endParaRPr lang="en-US" sz="1500"/>
          </a:p>
          <a:p>
            <a:pPr algn="l"/>
            <a:r>
              <a:rPr lang="en-US" sz="1500">
                <a:solidFill>
                  <a:srgbClr val="D9F99D"/>
                </a:solidFill>
                <a:latin typeface="Consolas"/>
              </a:rPr>
              <a:t>Assignment, HallTicket</a:t>
            </a:r>
            <a:endParaRPr lang="en-US" sz="1500"/>
          </a:p>
          <a:p>
            <a:pPr algn="l"/>
            <a:r>
              <a:rPr lang="en-US" sz="1500">
                <a:solidFill>
                  <a:srgbClr val="D9F99D"/>
                </a:solidFill>
                <a:latin typeface="Consolas"/>
              </a:rPr>
              <a:t>Notice, Notification, Message</a:t>
            </a:r>
            <a:endParaRPr lang="en-US" sz="1500"/>
          </a:p>
          <a:p>
            <a:pPr algn="l"/>
            <a:r>
              <a:rPr lang="en-US" sz="1500">
                <a:solidFill>
                  <a:srgbClr val="D9F99D"/>
                </a:solidFill>
                <a:latin typeface="Consolas"/>
              </a:rPr>
              <a:t>Contact, Feedback</a:t>
            </a:r>
            <a:endParaRPr lang="en-US" sz="1500"/>
          </a:p>
        </p:txBody>
      </p:sp>
      <p:sp>
        <p:nvSpPr>
          <p:cNvPr id="10" name="Code Panel"/>
          <p:cNvSpPr/>
          <p:nvPr/>
        </p:nvSpPr>
        <p:spPr>
          <a:xfrm>
            <a:off x="4333875" y="1428750"/>
            <a:ext cx="3476625" cy="4286250"/>
          </a:xfrm>
          <a:prstGeom prst="roundRect">
            <a:avLst/>
          </a:prstGeom>
          <a:solidFill>
            <a:srgbClr val="071827"/>
          </a:solidFill>
          <a:ln w="12700">
            <a:solidFill>
              <a:srgbClr val="2E5D87"/>
            </a:solidFill>
          </a:ln>
        </p:spPr>
      </p:sp>
      <p:sp>
        <p:nvSpPr>
          <p:cNvPr id="11" name="Code Text"/>
          <p:cNvSpPr/>
          <p:nvPr/>
        </p:nvSpPr>
        <p:spPr>
          <a:xfrm>
            <a:off x="4505325" y="1581150"/>
            <a:ext cx="3133725" cy="4019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500">
                <a:solidFill>
                  <a:srgbClr val="D9F99D"/>
                </a:solidFill>
                <a:latin typeface="Consolas"/>
              </a:rPr>
              <a:t>Book, BookIssue, Library flow</a:t>
            </a:r>
            <a:endParaRPr lang="en-US" sz="1500"/>
          </a:p>
          <a:p>
            <a:pPr algn="l"/>
            <a:r>
              <a:rPr lang="en-US" sz="1500">
                <a:solidFill>
                  <a:srgbClr val="D9F99D"/>
                </a:solidFill>
                <a:latin typeface="Consolas"/>
              </a:rPr>
              <a:t>Certificate, Scholarship</a:t>
            </a:r>
            <a:endParaRPr lang="en-US" sz="1500"/>
          </a:p>
          <a:p>
            <a:pPr algn="l"/>
            <a:r>
              <a:rPr lang="en-US" sz="1500">
                <a:solidFill>
                  <a:srgbClr val="D9F99D"/>
                </a:solidFill>
                <a:latin typeface="Consolas"/>
              </a:rPr>
              <a:t>Hostel, Leave</a:t>
            </a:r>
            <a:endParaRPr lang="en-US" sz="1500"/>
          </a:p>
          <a:p>
            <a:pPr algn="l"/>
            <a:r>
              <a:rPr lang="en-US" sz="1500">
                <a:solidFill>
                  <a:srgbClr val="D9F99D"/>
                </a:solidFill>
                <a:latin typeface="Consolas"/>
              </a:rPr>
              <a:t>Gallery, Event, Placement</a:t>
            </a:r>
            <a:endParaRPr lang="en-US" sz="1500"/>
          </a:p>
          <a:p>
            <a:pPr algn="l"/>
            <a:r>
              <a:rPr lang="en-US" sz="1500">
                <a:solidFill>
                  <a:srgbClr val="D9F99D"/>
                </a:solidFill>
                <a:latin typeface="Consolas"/>
              </a:rPr>
              <a:t>Alumni, ChatHistory</a:t>
            </a:r>
            <a:endParaRPr lang="en-US" sz="1500"/>
          </a:p>
          <a:p>
            <a:pPr algn="l"/>
            <a:r>
              <a:rPr lang="en-US" sz="1500">
                <a:solidFill>
                  <a:srgbClr val="D9F99D"/>
                </a:solidFill>
                <a:latin typeface="Consolas"/>
              </a:rPr>
              <a:t>Faq, UnansweredQuestion</a:t>
            </a:r>
            <a:endParaRPr lang="en-US" sz="1500"/>
          </a:p>
        </p:txBody>
      </p:sp>
      <p:sp>
        <p:nvSpPr>
          <p:cNvPr id="12" name="Schema Design Notes"/>
          <p:cNvSpPr/>
          <p:nvPr/>
        </p:nvSpPr>
        <p:spPr>
          <a:xfrm>
            <a:off x="8191500" y="1428750"/>
            <a:ext cx="3429000" cy="42862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3" name="Schema Design Notes Title"/>
          <p:cNvSpPr/>
          <p:nvPr/>
        </p:nvSpPr>
        <p:spPr>
          <a:xfrm>
            <a:off x="8362950" y="1562100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Schema Design Notes</a:t>
            </a:r>
            <a:endParaRPr lang="en-US" sz="1300"/>
          </a:p>
        </p:txBody>
      </p:sp>
      <p:sp>
        <p:nvSpPr>
          <p:cNvPr id="14" name="Schema Design Notes Body"/>
          <p:cNvSpPr/>
          <p:nvPr/>
        </p:nvSpPr>
        <p:spPr>
          <a:xfrm>
            <a:off x="8362950" y="1866900"/>
            <a:ext cx="3086100" cy="3733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Models keep the project modular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Each controller imports its matching model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Population is used for readable admin data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Virtual fields compute balances and counts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Chatbot data is stored for history and FAQ learning</a:t>
            </a:r>
            <a:endParaRPr lang="en-US"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Security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Authentication and Authorization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JWT security with role-based route protection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17 / 30</a:t>
            </a:r>
            <a:endParaRPr lang="en-US" sz="1000"/>
          </a:p>
        </p:txBody>
      </p:sp>
      <p:sp>
        <p:nvSpPr>
          <p:cNvPr id="8" name="Frontend Auth"/>
          <p:cNvSpPr/>
          <p:nvPr/>
        </p:nvSpPr>
        <p:spPr>
          <a:xfrm>
            <a:off x="571500" y="1714500"/>
            <a:ext cx="3429000" cy="31432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Frontend Auth Title"/>
          <p:cNvSpPr/>
          <p:nvPr/>
        </p:nvSpPr>
        <p:spPr>
          <a:xfrm>
            <a:off x="742950" y="1847850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Frontend Auth</a:t>
            </a:r>
            <a:endParaRPr lang="en-US" sz="1300"/>
          </a:p>
        </p:txBody>
      </p:sp>
      <p:sp>
        <p:nvSpPr>
          <p:cNvPr id="10" name="Frontend Auth Body"/>
          <p:cNvSpPr/>
          <p:nvPr/>
        </p:nvSpPr>
        <p:spPr>
          <a:xfrm>
            <a:off x="742950" y="2152650"/>
            <a:ext cx="3086100" cy="2590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AuthContext stores logged-in user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Axios interceptor attaches Bearer token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PrivateRoute blocks unauthenticated users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AdminRoute checks role before rendering admin pages</a:t>
            </a:r>
            <a:endParaRPr lang="en-US" sz="1400"/>
          </a:p>
        </p:txBody>
      </p:sp>
      <p:sp>
        <p:nvSpPr>
          <p:cNvPr id="11" name="Backend Auth"/>
          <p:cNvSpPr/>
          <p:nvPr/>
        </p:nvSpPr>
        <p:spPr>
          <a:xfrm>
            <a:off x="4381500" y="1714500"/>
            <a:ext cx="3429000" cy="31432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Backend Auth Title"/>
          <p:cNvSpPr/>
          <p:nvPr/>
        </p:nvSpPr>
        <p:spPr>
          <a:xfrm>
            <a:off x="4552950" y="1847850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Backend Auth</a:t>
            </a:r>
            <a:endParaRPr lang="en-US" sz="1300"/>
          </a:p>
        </p:txBody>
      </p:sp>
      <p:sp>
        <p:nvSpPr>
          <p:cNvPr id="13" name="Backend Auth Body"/>
          <p:cNvSpPr/>
          <p:nvPr/>
        </p:nvSpPr>
        <p:spPr>
          <a:xfrm>
            <a:off x="4552950" y="2152650"/>
            <a:ext cx="3086100" cy="2590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protect middleware verifies JWT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User is loaded from database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Inactive or missing users are rejected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adminOnly returns 403 for non-admin users</a:t>
            </a:r>
            <a:endParaRPr lang="en-US" sz="1400"/>
          </a:p>
        </p:txBody>
      </p:sp>
      <p:sp>
        <p:nvSpPr>
          <p:cNvPr id="14" name="Code Panel"/>
          <p:cNvSpPr/>
          <p:nvPr/>
        </p:nvSpPr>
        <p:spPr>
          <a:xfrm>
            <a:off x="8191500" y="1714500"/>
            <a:ext cx="3429000" cy="3143250"/>
          </a:xfrm>
          <a:prstGeom prst="roundRect">
            <a:avLst/>
          </a:prstGeom>
          <a:solidFill>
            <a:srgbClr val="071827"/>
          </a:solidFill>
          <a:ln w="12700">
            <a:solidFill>
              <a:srgbClr val="2E5D87"/>
            </a:solidFill>
          </a:ln>
        </p:spPr>
      </p:sp>
      <p:sp>
        <p:nvSpPr>
          <p:cNvPr id="15" name="Code Text"/>
          <p:cNvSpPr/>
          <p:nvPr/>
        </p:nvSpPr>
        <p:spPr>
          <a:xfrm>
            <a:off x="8362950" y="1866900"/>
            <a:ext cx="3086100" cy="2876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>
                <a:solidFill>
                  <a:srgbClr val="D9F99D"/>
                </a:solidFill>
                <a:latin typeface="Consolas"/>
              </a:rPr>
              <a:t>if (!user) return &lt;Navigate to="/login" /&gt;;</a:t>
            </a:r>
            <a:endParaRPr lang="en-US" sz="1300"/>
          </a:p>
          <a:p>
            <a:pPr algn="l"/>
            <a:r>
              <a:rPr lang="en-US" sz="1300">
                <a:solidFill>
                  <a:srgbClr val="D9F99D"/>
                </a:solidFill>
                <a:latin typeface="Consolas"/>
              </a:rPr>
              <a:t>if (user.role !== "admin") return &lt;Navigate to="/" /&gt;;</a:t>
            </a:r>
            <a:endParaRPr lang="en-US" sz="1300"/>
          </a:p>
          <a:p>
            <a:pPr algn="l"/>
            <a:r>
              <a:rPr lang="en-US" sz="1300">
                <a:solidFill>
                  <a:srgbClr val="D9F99D"/>
                </a:solidFill>
                <a:latin typeface="Consolas"/>
              </a:rPr>
              <a:t/>
            </a:r>
            <a:endParaRPr lang="en-US" sz="1300"/>
          </a:p>
          <a:p>
            <a:pPr algn="l"/>
            <a:r>
              <a:rPr lang="en-US" sz="1300">
                <a:solidFill>
                  <a:srgbClr val="D9F99D"/>
                </a:solidFill>
                <a:latin typeface="Consolas"/>
              </a:rPr>
              <a:t>router.get("/", protect, adminOnly, handler);</a:t>
            </a:r>
            <a:endParaRPr lang="en-US" sz="1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Modules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Admissions and Student Management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Admission form, student profiles, status workflow, and admin review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18 / 30</a:t>
            </a:r>
            <a:endParaRPr lang="en-US" sz="1000"/>
          </a:p>
        </p:txBody>
      </p:sp>
      <p:sp>
        <p:nvSpPr>
          <p:cNvPr id="8" name="Admission Flow"/>
          <p:cNvSpPr/>
          <p:nvPr/>
        </p:nvSpPr>
        <p:spPr>
          <a:xfrm>
            <a:off x="666750" y="1666875"/>
            <a:ext cx="3333750" cy="3429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Admission Flow Title"/>
          <p:cNvSpPr/>
          <p:nvPr/>
        </p:nvSpPr>
        <p:spPr>
          <a:xfrm>
            <a:off x="838200" y="1800225"/>
            <a:ext cx="29908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Admission Flow</a:t>
            </a:r>
            <a:endParaRPr lang="en-US" sz="1300"/>
          </a:p>
        </p:txBody>
      </p:sp>
      <p:sp>
        <p:nvSpPr>
          <p:cNvPr id="10" name="Admission Flow Body"/>
          <p:cNvSpPr/>
          <p:nvPr/>
        </p:nvSpPr>
        <p:spPr>
          <a:xfrm>
            <a:off x="838200" y="2105025"/>
            <a:ext cx="2990850" cy="2876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Visitor opens Admission page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Form captures personal and academic details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Course selection is saved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Student record starts as pending or under review</a:t>
            </a:r>
            <a:endParaRPr lang="en-US" sz="1400"/>
          </a:p>
        </p:txBody>
      </p:sp>
      <p:sp>
        <p:nvSpPr>
          <p:cNvPr id="11" name="Admin Flow"/>
          <p:cNvSpPr/>
          <p:nvPr/>
        </p:nvSpPr>
        <p:spPr>
          <a:xfrm>
            <a:off x="4429125" y="1666875"/>
            <a:ext cx="3333750" cy="3429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Admin Flow Title"/>
          <p:cNvSpPr/>
          <p:nvPr/>
        </p:nvSpPr>
        <p:spPr>
          <a:xfrm>
            <a:off x="4600575" y="1800225"/>
            <a:ext cx="29908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Admin Flow</a:t>
            </a:r>
            <a:endParaRPr lang="en-US" sz="1300"/>
          </a:p>
        </p:txBody>
      </p:sp>
      <p:sp>
        <p:nvSpPr>
          <p:cNvPr id="13" name="Admin Flow Body"/>
          <p:cNvSpPr/>
          <p:nvPr/>
        </p:nvSpPr>
        <p:spPr>
          <a:xfrm>
            <a:off x="4600575" y="2105025"/>
            <a:ext cx="2990850" cy="2876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Admin reviews applications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Status changes to accepted or rejected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Admission number can be assigned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Student data becomes available for fees, attendance and other modules</a:t>
            </a:r>
            <a:endParaRPr lang="en-US" sz="1400"/>
          </a:p>
        </p:txBody>
      </p:sp>
      <p:sp>
        <p:nvSpPr>
          <p:cNvPr id="14" name="Database"/>
          <p:cNvSpPr/>
          <p:nvPr/>
        </p:nvSpPr>
        <p:spPr>
          <a:xfrm>
            <a:off x="8191500" y="1666875"/>
            <a:ext cx="3333750" cy="3429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5" name="Database Title"/>
          <p:cNvSpPr/>
          <p:nvPr/>
        </p:nvSpPr>
        <p:spPr>
          <a:xfrm>
            <a:off x="8362950" y="1800225"/>
            <a:ext cx="29908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Database</a:t>
            </a:r>
            <a:endParaRPr lang="en-US" sz="1300"/>
          </a:p>
        </p:txBody>
      </p:sp>
      <p:sp>
        <p:nvSpPr>
          <p:cNvPr id="16" name="Database Body"/>
          <p:cNvSpPr/>
          <p:nvPr/>
        </p:nvSpPr>
        <p:spPr>
          <a:xfrm>
            <a:off x="8362950" y="2105025"/>
            <a:ext cx="2990850" cy="2876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Student model stores personal details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courseApplied references Course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user links student account to application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status tracks admission decision</a:t>
            </a:r>
            <a:endParaRPr lang="en-US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Modules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Courses, Faculty, Gallery, Events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Public-facing college information managed from admin panel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19 / 30</a:t>
            </a:r>
            <a:endParaRPr lang="en-US" sz="1000"/>
          </a:p>
        </p:txBody>
      </p:sp>
      <p:sp>
        <p:nvSpPr>
          <p:cNvPr id="8" name="Courses"/>
          <p:cNvSpPr/>
          <p:nvPr/>
        </p:nvSpPr>
        <p:spPr>
          <a:xfrm>
            <a:off x="571500" y="1619250"/>
            <a:ext cx="2571750" cy="35242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Courses Title"/>
          <p:cNvSpPr/>
          <p:nvPr/>
        </p:nvSpPr>
        <p:spPr>
          <a:xfrm>
            <a:off x="742950" y="1752600"/>
            <a:ext cx="22288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Courses</a:t>
            </a:r>
            <a:endParaRPr lang="en-US" sz="1300"/>
          </a:p>
        </p:txBody>
      </p:sp>
      <p:sp>
        <p:nvSpPr>
          <p:cNvPr id="10" name="Courses Body"/>
          <p:cNvSpPr/>
          <p:nvPr/>
        </p:nvSpPr>
        <p:spPr>
          <a:xfrm>
            <a:off x="742950" y="2057400"/>
            <a:ext cx="2228850" cy="2971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Add and manage courses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Course cards on public pages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Course selection during admission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Course reference in assignments and students</a:t>
            </a:r>
            <a:endParaRPr lang="en-US" sz="1300"/>
          </a:p>
        </p:txBody>
      </p:sp>
      <p:sp>
        <p:nvSpPr>
          <p:cNvPr id="11" name="Faculty"/>
          <p:cNvSpPr/>
          <p:nvPr/>
        </p:nvSpPr>
        <p:spPr>
          <a:xfrm>
            <a:off x="3429000" y="1619250"/>
            <a:ext cx="2571750" cy="35242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Faculty Title"/>
          <p:cNvSpPr/>
          <p:nvPr/>
        </p:nvSpPr>
        <p:spPr>
          <a:xfrm>
            <a:off x="3600450" y="1752600"/>
            <a:ext cx="22288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Faculty</a:t>
            </a:r>
            <a:endParaRPr lang="en-US" sz="1300"/>
          </a:p>
        </p:txBody>
      </p:sp>
      <p:sp>
        <p:nvSpPr>
          <p:cNvPr id="13" name="Faculty Body"/>
          <p:cNvSpPr/>
          <p:nvPr/>
        </p:nvSpPr>
        <p:spPr>
          <a:xfrm>
            <a:off x="3600450" y="2057400"/>
            <a:ext cx="2228850" cy="2971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Manage faculty profiles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Display teachers publicly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Help visitors assess departments and expertise</a:t>
            </a:r>
            <a:endParaRPr lang="en-US" sz="1300"/>
          </a:p>
        </p:txBody>
      </p:sp>
      <p:sp>
        <p:nvSpPr>
          <p:cNvPr id="14" name="Gallery"/>
          <p:cNvSpPr/>
          <p:nvPr/>
        </p:nvSpPr>
        <p:spPr>
          <a:xfrm>
            <a:off x="6286500" y="1619250"/>
            <a:ext cx="2571750" cy="35242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5" name="Gallery Title"/>
          <p:cNvSpPr/>
          <p:nvPr/>
        </p:nvSpPr>
        <p:spPr>
          <a:xfrm>
            <a:off x="6457950" y="1752600"/>
            <a:ext cx="22288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Gallery</a:t>
            </a:r>
            <a:endParaRPr lang="en-US" sz="1300"/>
          </a:p>
        </p:txBody>
      </p:sp>
      <p:sp>
        <p:nvSpPr>
          <p:cNvPr id="16" name="Gallery Body"/>
          <p:cNvSpPr/>
          <p:nvPr/>
        </p:nvSpPr>
        <p:spPr>
          <a:xfrm>
            <a:off x="6457950" y="2057400"/>
            <a:ext cx="2228850" cy="2971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Upload campus images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Store images in uploads or Cloudinary path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Display visual proof of activities</a:t>
            </a:r>
            <a:endParaRPr lang="en-US" sz="1300"/>
          </a:p>
        </p:txBody>
      </p:sp>
      <p:sp>
        <p:nvSpPr>
          <p:cNvPr id="17" name="Events and Placements"/>
          <p:cNvSpPr/>
          <p:nvPr/>
        </p:nvSpPr>
        <p:spPr>
          <a:xfrm>
            <a:off x="9144000" y="1619250"/>
            <a:ext cx="2571750" cy="35242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8" name="Events and Placements Title"/>
          <p:cNvSpPr/>
          <p:nvPr/>
        </p:nvSpPr>
        <p:spPr>
          <a:xfrm>
            <a:off x="9315450" y="1752600"/>
            <a:ext cx="22288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Events and Placements</a:t>
            </a:r>
            <a:endParaRPr lang="en-US" sz="1300"/>
          </a:p>
        </p:txBody>
      </p:sp>
      <p:sp>
        <p:nvSpPr>
          <p:cNvPr id="19" name="Events and Placements Body"/>
          <p:cNvSpPr/>
          <p:nvPr/>
        </p:nvSpPr>
        <p:spPr>
          <a:xfrm>
            <a:off x="9315450" y="2057400"/>
            <a:ext cx="2228850" cy="2971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Event calendar and public events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Placement opportunities and updates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Alumni portal for wider engagement</a:t>
            </a:r>
            <a:endParaRPr lang="en-US" sz="1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Modules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Fees, Payments, Receipts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Financial module for billing, payment tracking, balances, and reports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20 / 30</a:t>
            </a:r>
            <a:endParaRPr lang="en-US" sz="1000"/>
          </a:p>
        </p:txBody>
      </p:sp>
      <p:sp>
        <p:nvSpPr>
          <p:cNvPr id="8" name="Admin Capabilities"/>
          <p:cNvSpPr/>
          <p:nvPr/>
        </p:nvSpPr>
        <p:spPr>
          <a:xfrm>
            <a:off x="571500" y="1714500"/>
            <a:ext cx="3429000" cy="3333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Admin Capabilities Title"/>
          <p:cNvSpPr/>
          <p:nvPr/>
        </p:nvSpPr>
        <p:spPr>
          <a:xfrm>
            <a:off x="742950" y="1847850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Admin Capabilities</a:t>
            </a:r>
            <a:endParaRPr lang="en-US" sz="1300"/>
          </a:p>
        </p:txBody>
      </p:sp>
      <p:sp>
        <p:nvSpPr>
          <p:cNvPr id="10" name="Admin Capabilities Body"/>
          <p:cNvSpPr/>
          <p:nvPr/>
        </p:nvSpPr>
        <p:spPr>
          <a:xfrm>
            <a:off x="742950" y="2152650"/>
            <a:ext cx="3086100" cy="2781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Create fee records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Bulk create semester fees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Record payments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Apply waivers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View fee summary and status</a:t>
            </a:r>
            <a:endParaRPr lang="en-US" sz="1400"/>
          </a:p>
        </p:txBody>
      </p:sp>
      <p:sp>
        <p:nvSpPr>
          <p:cNvPr id="11" name="Student Capabilities"/>
          <p:cNvSpPr/>
          <p:nvPr/>
        </p:nvSpPr>
        <p:spPr>
          <a:xfrm>
            <a:off x="4381500" y="1714500"/>
            <a:ext cx="3429000" cy="3333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Student Capabilities Title"/>
          <p:cNvSpPr/>
          <p:nvPr/>
        </p:nvSpPr>
        <p:spPr>
          <a:xfrm>
            <a:off x="4552950" y="1847850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Student Capabilities</a:t>
            </a:r>
            <a:endParaRPr lang="en-US" sz="1300"/>
          </a:p>
        </p:txBody>
      </p:sp>
      <p:sp>
        <p:nvSpPr>
          <p:cNvPr id="13" name="Student Capabilities Body"/>
          <p:cNvSpPr/>
          <p:nvPr/>
        </p:nvSpPr>
        <p:spPr>
          <a:xfrm>
            <a:off x="4552950" y="2152650"/>
            <a:ext cx="3086100" cy="2781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View assigned fees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Check paid, partial, unpaid or waived status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See balances and due dates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Download or view related fee information</a:t>
            </a:r>
            <a:endParaRPr lang="en-US" sz="1400"/>
          </a:p>
        </p:txBody>
      </p:sp>
      <p:sp>
        <p:nvSpPr>
          <p:cNvPr id="14" name="Code Panel"/>
          <p:cNvSpPr/>
          <p:nvPr/>
        </p:nvSpPr>
        <p:spPr>
          <a:xfrm>
            <a:off x="8191500" y="1714500"/>
            <a:ext cx="3429000" cy="3333750"/>
          </a:xfrm>
          <a:prstGeom prst="roundRect">
            <a:avLst/>
          </a:prstGeom>
          <a:solidFill>
            <a:srgbClr val="071827"/>
          </a:solidFill>
          <a:ln w="12700">
            <a:solidFill>
              <a:srgbClr val="2E5D87"/>
            </a:solidFill>
          </a:ln>
        </p:spPr>
      </p:sp>
      <p:sp>
        <p:nvSpPr>
          <p:cNvPr id="15" name="Code Text"/>
          <p:cNvSpPr/>
          <p:nvPr/>
        </p:nvSpPr>
        <p:spPr>
          <a:xfrm>
            <a:off x="8362950" y="1866900"/>
            <a:ext cx="3086100" cy="3067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>
                <a:solidFill>
                  <a:srgbClr val="D9F99D"/>
                </a:solidFill>
                <a:latin typeface="Consolas"/>
              </a:rPr>
              <a:t>Fee virtual fields:</a:t>
            </a:r>
            <a:endParaRPr lang="en-US" sz="1300"/>
          </a:p>
          <a:p>
            <a:pPr algn="l"/>
            <a:r>
              <a:rPr lang="en-US" sz="1300">
                <a:solidFill>
                  <a:srgbClr val="D9F99D"/>
                </a:solidFill>
                <a:latin typeface="Consolas"/>
              </a:rPr>
              <a:t>amountPaid = sum(transactions)</a:t>
            </a:r>
            <a:endParaRPr lang="en-US" sz="1300"/>
          </a:p>
          <a:p>
            <a:pPr algn="l"/>
            <a:r>
              <a:rPr lang="en-US" sz="1300">
                <a:solidFill>
                  <a:srgbClr val="D9F99D"/>
                </a:solidFill>
                <a:latin typeface="Consolas"/>
              </a:rPr>
              <a:t>balance = totalAmount - waiver - paid</a:t>
            </a:r>
            <a:endParaRPr lang="en-US" sz="1300"/>
          </a:p>
          <a:p>
            <a:pPr algn="l"/>
            <a:r>
              <a:rPr lang="en-US" sz="1300">
                <a:solidFill>
                  <a:srgbClr val="D9F99D"/>
                </a:solidFill>
                <a:latin typeface="Consolas"/>
              </a:rPr>
              <a:t/>
            </a:r>
            <a:endParaRPr lang="en-US" sz="1300"/>
          </a:p>
          <a:p>
            <a:pPr algn="l"/>
            <a:r>
              <a:rPr lang="en-US" sz="1300">
                <a:solidFill>
                  <a:srgbClr val="D9F99D"/>
                </a:solidFill>
                <a:latin typeface="Consolas"/>
              </a:rPr>
              <a:t>Status updates before save:</a:t>
            </a:r>
            <a:endParaRPr lang="en-US" sz="1300"/>
          </a:p>
          <a:p>
            <a:pPr algn="l"/>
            <a:r>
              <a:rPr lang="en-US" sz="1300">
                <a:solidFill>
                  <a:srgbClr val="D9F99D"/>
                </a:solidFill>
                <a:latin typeface="Consolas"/>
              </a:rPr>
              <a:t>unpaid / partial / paid / waived</a:t>
            </a:r>
            <a:endParaRPr lang="en-US" sz="13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Modules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Attendance, Timetable, Hall Tickets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Daily academic operations for students and administrators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21 / 30</a:t>
            </a:r>
            <a:endParaRPr lang="en-US" sz="1000"/>
          </a:p>
        </p:txBody>
      </p:sp>
      <p:sp>
        <p:nvSpPr>
          <p:cNvPr id="8" name="Attendance"/>
          <p:cNvSpPr/>
          <p:nvPr/>
        </p:nvSpPr>
        <p:spPr>
          <a:xfrm>
            <a:off x="571500" y="1666875"/>
            <a:ext cx="3429000" cy="3429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Attendance Title"/>
          <p:cNvSpPr/>
          <p:nvPr/>
        </p:nvSpPr>
        <p:spPr>
          <a:xfrm>
            <a:off x="742950" y="1800225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Attendance</a:t>
            </a:r>
            <a:endParaRPr lang="en-US" sz="1300"/>
          </a:p>
        </p:txBody>
      </p:sp>
      <p:sp>
        <p:nvSpPr>
          <p:cNvPr id="10" name="Attendance Body"/>
          <p:cNvSpPr/>
          <p:nvPr/>
        </p:nvSpPr>
        <p:spPr>
          <a:xfrm>
            <a:off x="742950" y="2105025"/>
            <a:ext cx="3086100" cy="2876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Admin marks attendance by date, subject and semester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Student sees personal attendance summary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Percentage calculated from present and late sessions</a:t>
            </a:r>
            <a:endParaRPr lang="en-US" sz="1400"/>
          </a:p>
        </p:txBody>
      </p:sp>
      <p:sp>
        <p:nvSpPr>
          <p:cNvPr id="11" name="Timetable"/>
          <p:cNvSpPr/>
          <p:nvPr/>
        </p:nvSpPr>
        <p:spPr>
          <a:xfrm>
            <a:off x="4381500" y="1666875"/>
            <a:ext cx="3429000" cy="3429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Timetable Title"/>
          <p:cNvSpPr/>
          <p:nvPr/>
        </p:nvSpPr>
        <p:spPr>
          <a:xfrm>
            <a:off x="4552950" y="1800225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Timetable</a:t>
            </a:r>
            <a:endParaRPr lang="en-US" sz="1300"/>
          </a:p>
        </p:txBody>
      </p:sp>
      <p:sp>
        <p:nvSpPr>
          <p:cNvPr id="13" name="Timetable Body"/>
          <p:cNvSpPr/>
          <p:nvPr/>
        </p:nvSpPr>
        <p:spPr>
          <a:xfrm>
            <a:off x="4552950" y="2105025"/>
            <a:ext cx="3086100" cy="2876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Admin manages class schedule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Student opens My Timetable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Helps centralize period, class and schedule information</a:t>
            </a:r>
            <a:endParaRPr lang="en-US" sz="1400"/>
          </a:p>
        </p:txBody>
      </p:sp>
      <p:sp>
        <p:nvSpPr>
          <p:cNvPr id="14" name="Hall Tickets"/>
          <p:cNvSpPr/>
          <p:nvPr/>
        </p:nvSpPr>
        <p:spPr>
          <a:xfrm>
            <a:off x="8191500" y="1666875"/>
            <a:ext cx="3429000" cy="3429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5" name="Hall Tickets Title"/>
          <p:cNvSpPr/>
          <p:nvPr/>
        </p:nvSpPr>
        <p:spPr>
          <a:xfrm>
            <a:off x="8362950" y="1800225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Hall Tickets</a:t>
            </a:r>
            <a:endParaRPr lang="en-US" sz="1300"/>
          </a:p>
        </p:txBody>
      </p:sp>
      <p:sp>
        <p:nvSpPr>
          <p:cNvPr id="16" name="Hall Tickets Body"/>
          <p:cNvSpPr/>
          <p:nvPr/>
        </p:nvSpPr>
        <p:spPr>
          <a:xfrm>
            <a:off x="8362950" y="2105025"/>
            <a:ext cx="3086100" cy="2876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Admin creates exam hall tickets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Student views and downloads ticket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Chatbot redirects to My Hall Ticket for quick access</a:t>
            </a:r>
            <a:endParaRPr lang="en-US"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Modules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Results, Exams, Assignments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Assessment lifecycle from creation to student visibility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22 / 30</a:t>
            </a:r>
            <a:endParaRPr lang="en-US" sz="1000"/>
          </a:p>
        </p:txBody>
      </p:sp>
      <p:sp>
        <p:nvSpPr>
          <p:cNvPr id="8" name="Results"/>
          <p:cNvSpPr/>
          <p:nvPr/>
        </p:nvSpPr>
        <p:spPr>
          <a:xfrm>
            <a:off x="476250" y="1619250"/>
            <a:ext cx="3429000" cy="3714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Results Title"/>
          <p:cNvSpPr/>
          <p:nvPr/>
        </p:nvSpPr>
        <p:spPr>
          <a:xfrm>
            <a:off x="647700" y="1752600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Results</a:t>
            </a:r>
            <a:endParaRPr lang="en-US" sz="1300"/>
          </a:p>
        </p:txBody>
      </p:sp>
      <p:sp>
        <p:nvSpPr>
          <p:cNvPr id="10" name="Results Body"/>
          <p:cNvSpPr/>
          <p:nvPr/>
        </p:nvSpPr>
        <p:spPr>
          <a:xfrm>
            <a:off x="647700" y="2057400"/>
            <a:ext cx="3086100" cy="3162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Admin creates subject-wise marks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Grade and percentage auto-calculated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Publish action makes result visible to student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Result notification can be sent</a:t>
            </a:r>
            <a:endParaRPr lang="en-US" sz="1400"/>
          </a:p>
        </p:txBody>
      </p:sp>
      <p:sp>
        <p:nvSpPr>
          <p:cNvPr id="11" name="Assignments"/>
          <p:cNvSpPr/>
          <p:nvPr/>
        </p:nvSpPr>
        <p:spPr>
          <a:xfrm>
            <a:off x="4381500" y="1619250"/>
            <a:ext cx="3429000" cy="3714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Assignments Title"/>
          <p:cNvSpPr/>
          <p:nvPr/>
        </p:nvSpPr>
        <p:spPr>
          <a:xfrm>
            <a:off x="4552950" y="1752600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Assignments</a:t>
            </a:r>
            <a:endParaRPr lang="en-US" sz="1300"/>
          </a:p>
        </p:txBody>
      </p:sp>
      <p:sp>
        <p:nvSpPr>
          <p:cNvPr id="13" name="Assignments Body"/>
          <p:cNvSpPr/>
          <p:nvPr/>
        </p:nvSpPr>
        <p:spPr>
          <a:xfrm>
            <a:off x="4552950" y="2057400"/>
            <a:ext cx="3086100" cy="3162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Admin creates homework, project, lab or quiz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Student submits content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Admin grades submissions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Pending assignment count supports chatbot status</a:t>
            </a:r>
            <a:endParaRPr lang="en-US" sz="1400"/>
          </a:p>
        </p:txBody>
      </p:sp>
      <p:sp>
        <p:nvSpPr>
          <p:cNvPr id="14" name="Exams and MCQ"/>
          <p:cNvSpPr/>
          <p:nvPr/>
        </p:nvSpPr>
        <p:spPr>
          <a:xfrm>
            <a:off x="8286750" y="1619250"/>
            <a:ext cx="3429000" cy="3714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5" name="Exams and MCQ Title"/>
          <p:cNvSpPr/>
          <p:nvPr/>
        </p:nvSpPr>
        <p:spPr>
          <a:xfrm>
            <a:off x="8458200" y="1752600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Exams and MCQ</a:t>
            </a:r>
            <a:endParaRPr lang="en-US" sz="1300"/>
          </a:p>
        </p:txBody>
      </p:sp>
      <p:sp>
        <p:nvSpPr>
          <p:cNvPr id="16" name="Exams and MCQ Body"/>
          <p:cNvSpPr/>
          <p:nvPr/>
        </p:nvSpPr>
        <p:spPr>
          <a:xfrm>
            <a:off x="8458200" y="2057400"/>
            <a:ext cx="3086100" cy="3162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Exam records for students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MCQ exam pages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Online exam management in admin panel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Student exam self-service page</a:t>
            </a:r>
            <a:endParaRPr lang="en-US"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Modules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Library, Hostel, Certificates, Scholarships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Additional student services integrated into the same portal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23 / 30</a:t>
            </a:r>
            <a:endParaRPr lang="en-US" sz="1000"/>
          </a:p>
        </p:txBody>
      </p:sp>
      <p:sp>
        <p:nvSpPr>
          <p:cNvPr id="8" name="Library"/>
          <p:cNvSpPr/>
          <p:nvPr/>
        </p:nvSpPr>
        <p:spPr>
          <a:xfrm>
            <a:off x="476250" y="1571625"/>
            <a:ext cx="2619375" cy="39052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Library Title"/>
          <p:cNvSpPr/>
          <p:nvPr/>
        </p:nvSpPr>
        <p:spPr>
          <a:xfrm>
            <a:off x="647700" y="1704975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Library</a:t>
            </a:r>
            <a:endParaRPr lang="en-US" sz="1300"/>
          </a:p>
        </p:txBody>
      </p:sp>
      <p:sp>
        <p:nvSpPr>
          <p:cNvPr id="10" name="Library Body"/>
          <p:cNvSpPr/>
          <p:nvPr/>
        </p:nvSpPr>
        <p:spPr>
          <a:xfrm>
            <a:off x="647700" y="2009775"/>
            <a:ext cx="2276475" cy="3352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Book inventory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Book issue records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Student library page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Admin library management</a:t>
            </a:r>
            <a:endParaRPr lang="en-US" sz="1300"/>
          </a:p>
        </p:txBody>
      </p:sp>
      <p:sp>
        <p:nvSpPr>
          <p:cNvPr id="11" name="Hostel and Leave"/>
          <p:cNvSpPr/>
          <p:nvPr/>
        </p:nvSpPr>
        <p:spPr>
          <a:xfrm>
            <a:off x="3333750" y="1571625"/>
            <a:ext cx="2619375" cy="39052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Hostel and Leave Title"/>
          <p:cNvSpPr/>
          <p:nvPr/>
        </p:nvSpPr>
        <p:spPr>
          <a:xfrm>
            <a:off x="3505200" y="1704975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Hostel and Leave</a:t>
            </a:r>
            <a:endParaRPr lang="en-US" sz="1300"/>
          </a:p>
        </p:txBody>
      </p:sp>
      <p:sp>
        <p:nvSpPr>
          <p:cNvPr id="13" name="Hostel and Leave Body"/>
          <p:cNvSpPr/>
          <p:nvPr/>
        </p:nvSpPr>
        <p:spPr>
          <a:xfrm>
            <a:off x="3505200" y="2009775"/>
            <a:ext cx="2276475" cy="3352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Hostel management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Student leave applications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Admin approval workflow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Track status centrally</a:t>
            </a:r>
            <a:endParaRPr lang="en-US" sz="1300"/>
          </a:p>
        </p:txBody>
      </p:sp>
      <p:sp>
        <p:nvSpPr>
          <p:cNvPr id="14" name="Certificates"/>
          <p:cNvSpPr/>
          <p:nvPr/>
        </p:nvSpPr>
        <p:spPr>
          <a:xfrm>
            <a:off x="6191250" y="1571625"/>
            <a:ext cx="2619375" cy="39052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5" name="Certificates Title"/>
          <p:cNvSpPr/>
          <p:nvPr/>
        </p:nvSpPr>
        <p:spPr>
          <a:xfrm>
            <a:off x="6362700" y="1704975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Certificates</a:t>
            </a:r>
            <a:endParaRPr lang="en-US" sz="1300"/>
          </a:p>
        </p:txBody>
      </p:sp>
      <p:sp>
        <p:nvSpPr>
          <p:cNvPr id="16" name="Certificates Body"/>
          <p:cNvSpPr/>
          <p:nvPr/>
        </p:nvSpPr>
        <p:spPr>
          <a:xfrm>
            <a:off x="6362700" y="2009775"/>
            <a:ext cx="2276475" cy="3352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Admin certificate generation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Student certificate view/download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Useful for bonafide and academic documents</a:t>
            </a:r>
            <a:endParaRPr lang="en-US" sz="1300"/>
          </a:p>
        </p:txBody>
      </p:sp>
      <p:sp>
        <p:nvSpPr>
          <p:cNvPr id="17" name="Scholarships"/>
          <p:cNvSpPr/>
          <p:nvPr/>
        </p:nvSpPr>
        <p:spPr>
          <a:xfrm>
            <a:off x="9048750" y="1571625"/>
            <a:ext cx="2619375" cy="39052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8" name="Scholarships Title"/>
          <p:cNvSpPr/>
          <p:nvPr/>
        </p:nvSpPr>
        <p:spPr>
          <a:xfrm>
            <a:off x="9220200" y="1704975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Scholarships</a:t>
            </a:r>
            <a:endParaRPr lang="en-US" sz="1300"/>
          </a:p>
        </p:txBody>
      </p:sp>
      <p:sp>
        <p:nvSpPr>
          <p:cNvPr id="19" name="Scholarships Body"/>
          <p:cNvSpPr/>
          <p:nvPr/>
        </p:nvSpPr>
        <p:spPr>
          <a:xfrm>
            <a:off x="9220200" y="2009775"/>
            <a:ext cx="2276475" cy="3352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Scholarship management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Student scholarship page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Status tracking for financial aid</a:t>
            </a:r>
            <a:endParaRPr lang="en-US" sz="1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Modules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Messages, Notifications, Email, SMS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Communication layer for students and admins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24 / 30</a:t>
            </a:r>
            <a:endParaRPr lang="en-US" sz="1000"/>
          </a:p>
        </p:txBody>
      </p:sp>
      <p:sp>
        <p:nvSpPr>
          <p:cNvPr id="8" name="In-App Communication"/>
          <p:cNvSpPr/>
          <p:nvPr/>
        </p:nvSpPr>
        <p:spPr>
          <a:xfrm>
            <a:off x="571500" y="1666875"/>
            <a:ext cx="3429000" cy="3429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In-App Communication Title"/>
          <p:cNvSpPr/>
          <p:nvPr/>
        </p:nvSpPr>
        <p:spPr>
          <a:xfrm>
            <a:off x="742950" y="1800225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In-App Communication</a:t>
            </a:r>
            <a:endParaRPr lang="en-US" sz="1300"/>
          </a:p>
        </p:txBody>
      </p:sp>
      <p:sp>
        <p:nvSpPr>
          <p:cNvPr id="10" name="In-App Communication Body"/>
          <p:cNvSpPr/>
          <p:nvPr/>
        </p:nvSpPr>
        <p:spPr>
          <a:xfrm>
            <a:off x="742950" y="2105025"/>
            <a:ext cx="3086100" cy="2876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My Chat for student messages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AdminChat for staff response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Message model stores conversations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NotificationBell shows updates</a:t>
            </a:r>
            <a:endParaRPr lang="en-US" sz="1400"/>
          </a:p>
        </p:txBody>
      </p:sp>
      <p:sp>
        <p:nvSpPr>
          <p:cNvPr id="11" name="Notifications"/>
          <p:cNvSpPr/>
          <p:nvPr/>
        </p:nvSpPr>
        <p:spPr>
          <a:xfrm>
            <a:off x="4381500" y="1666875"/>
            <a:ext cx="3429000" cy="3429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Notifications Title"/>
          <p:cNvSpPr/>
          <p:nvPr/>
        </p:nvSpPr>
        <p:spPr>
          <a:xfrm>
            <a:off x="4552950" y="1800225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Notifications</a:t>
            </a:r>
            <a:endParaRPr lang="en-US" sz="1300"/>
          </a:p>
        </p:txBody>
      </p:sp>
      <p:sp>
        <p:nvSpPr>
          <p:cNvPr id="13" name="Notifications Body"/>
          <p:cNvSpPr/>
          <p:nvPr/>
        </p:nvSpPr>
        <p:spPr>
          <a:xfrm>
            <a:off x="4552950" y="2105025"/>
            <a:ext cx="3086100" cy="2876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Notification model and routes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Helper utility creates student notifications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Used when fees, results or other events occur</a:t>
            </a:r>
            <a:endParaRPr lang="en-US" sz="1400"/>
          </a:p>
        </p:txBody>
      </p:sp>
      <p:sp>
        <p:nvSpPr>
          <p:cNvPr id="14" name="Email and SMS"/>
          <p:cNvSpPr/>
          <p:nvPr/>
        </p:nvSpPr>
        <p:spPr>
          <a:xfrm>
            <a:off x="8191500" y="1666875"/>
            <a:ext cx="3429000" cy="3429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5" name="Email and SMS Title"/>
          <p:cNvSpPr/>
          <p:nvPr/>
        </p:nvSpPr>
        <p:spPr>
          <a:xfrm>
            <a:off x="8362950" y="1800225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Email and SMS</a:t>
            </a:r>
            <a:endParaRPr lang="en-US" sz="1300"/>
          </a:p>
        </p:txBody>
      </p:sp>
      <p:sp>
        <p:nvSpPr>
          <p:cNvPr id="16" name="Email and SMS Body"/>
          <p:cNvSpPr/>
          <p:nvPr/>
        </p:nvSpPr>
        <p:spPr>
          <a:xfrm>
            <a:off x="8362950" y="2105025"/>
            <a:ext cx="3086100" cy="2876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Email controller and routes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Nodemailer service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SMS service utility with Twilio dependency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Supports reminders and broadcast communication</a:t>
            </a:r>
            <a:endParaRPr lang="en-US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Chatbot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AI Chatbot and FAQ Assistant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Floating assistant for quick student support and smart navigation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25 / 30</a:t>
            </a:r>
            <a:endParaRPr lang="en-US" sz="1000"/>
          </a:p>
        </p:txBody>
      </p:sp>
      <p:sp>
        <p:nvSpPr>
          <p:cNvPr id="8" name="Student Features"/>
          <p:cNvSpPr/>
          <p:nvPr/>
        </p:nvSpPr>
        <p:spPr>
          <a:xfrm>
            <a:off x="476250" y="1571625"/>
            <a:ext cx="3429000" cy="3857625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Student Features Title"/>
          <p:cNvSpPr/>
          <p:nvPr/>
        </p:nvSpPr>
        <p:spPr>
          <a:xfrm>
            <a:off x="647700" y="1704975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Student Features</a:t>
            </a:r>
            <a:endParaRPr lang="en-US" sz="1300"/>
          </a:p>
        </p:txBody>
      </p:sp>
      <p:sp>
        <p:nvSpPr>
          <p:cNvPr id="10" name="Student Features Body"/>
          <p:cNvSpPr/>
          <p:nvPr/>
        </p:nvSpPr>
        <p:spPr>
          <a:xfrm>
            <a:off x="647700" y="2009775"/>
            <a:ext cx="3086100" cy="3305175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English and Hindi support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Quick action buttons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Search inside answers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Chat history for logged-in users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Minimize, clear chat, dark/light mode</a:t>
            </a:r>
            <a:endParaRPr lang="en-US" sz="1400"/>
          </a:p>
        </p:txBody>
      </p:sp>
      <p:sp>
        <p:nvSpPr>
          <p:cNvPr id="11" name="Smart Answers"/>
          <p:cNvSpPr/>
          <p:nvPr/>
        </p:nvSpPr>
        <p:spPr>
          <a:xfrm>
            <a:off x="4381500" y="1571625"/>
            <a:ext cx="3429000" cy="3857625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Smart Answers Title"/>
          <p:cNvSpPr/>
          <p:nvPr/>
        </p:nvSpPr>
        <p:spPr>
          <a:xfrm>
            <a:off x="4552950" y="1704975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Smart Answers</a:t>
            </a:r>
            <a:endParaRPr lang="en-US" sz="1300"/>
          </a:p>
        </p:txBody>
      </p:sp>
      <p:sp>
        <p:nvSpPr>
          <p:cNvPr id="13" name="Smart Answers Body"/>
          <p:cNvSpPr/>
          <p:nvPr/>
        </p:nvSpPr>
        <p:spPr>
          <a:xfrm>
            <a:off x="4552950" y="2009775"/>
            <a:ext cx="3086100" cy="3305175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Admission, courses, fees, results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Attendance, timetable, library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Hall ticket, documents, form help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Personal status summary after login</a:t>
            </a:r>
            <a:endParaRPr lang="en-US" sz="1400"/>
          </a:p>
        </p:txBody>
      </p:sp>
      <p:sp>
        <p:nvSpPr>
          <p:cNvPr id="14" name="Redirects"/>
          <p:cNvSpPr/>
          <p:nvPr/>
        </p:nvSpPr>
        <p:spPr>
          <a:xfrm>
            <a:off x="8286750" y="1571625"/>
            <a:ext cx="3429000" cy="3857625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5" name="Redirects Title"/>
          <p:cNvSpPr/>
          <p:nvPr/>
        </p:nvSpPr>
        <p:spPr>
          <a:xfrm>
            <a:off x="8458200" y="1704975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Redirects</a:t>
            </a:r>
            <a:endParaRPr lang="en-US" sz="1300"/>
          </a:p>
        </p:txBody>
      </p:sp>
      <p:sp>
        <p:nvSpPr>
          <p:cNvPr id="16" name="Redirects Body"/>
          <p:cNvSpPr/>
          <p:nvPr/>
        </p:nvSpPr>
        <p:spPr>
          <a:xfrm>
            <a:off x="8458200" y="2009775"/>
            <a:ext cx="3086100" cy="3305175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Go to Admission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Open My Fees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Open Results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Open Hall Ticket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Message Admin or Contact page for issue reports</a:t>
            </a:r>
            <a:endParaRPr lang="en-US"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Chatbot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Chatbot Learning and Admin FAQ Editor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Fallback learning loop converts unanswered questions into future answers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26 / 30</a:t>
            </a:r>
            <a:endParaRPr lang="en-US" sz="1000"/>
          </a:p>
        </p:txBody>
      </p:sp>
      <p:sp>
        <p:nvSpPr>
          <p:cNvPr id="8" name="Data Models"/>
          <p:cNvSpPr/>
          <p:nvPr/>
        </p:nvSpPr>
        <p:spPr>
          <a:xfrm>
            <a:off x="571500" y="1666875"/>
            <a:ext cx="3429000" cy="3429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Data Models Title"/>
          <p:cNvSpPr/>
          <p:nvPr/>
        </p:nvSpPr>
        <p:spPr>
          <a:xfrm>
            <a:off x="742950" y="1800225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Data Models</a:t>
            </a:r>
            <a:endParaRPr lang="en-US" sz="1300"/>
          </a:p>
        </p:txBody>
      </p:sp>
      <p:sp>
        <p:nvSpPr>
          <p:cNvPr id="10" name="Data Models Body"/>
          <p:cNvSpPr/>
          <p:nvPr/>
        </p:nvSpPr>
        <p:spPr>
          <a:xfrm>
            <a:off x="742950" y="2105025"/>
            <a:ext cx="3086100" cy="2876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Faq stores admin-managed answers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ChatHistory stores user question and bot answer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UnansweredQuestion stores fallback and issue reports</a:t>
            </a:r>
            <a:endParaRPr lang="en-US" sz="1400"/>
          </a:p>
        </p:txBody>
      </p:sp>
      <p:sp>
        <p:nvSpPr>
          <p:cNvPr id="11" name="Admin FAQ Editor"/>
          <p:cNvSpPr/>
          <p:nvPr/>
        </p:nvSpPr>
        <p:spPr>
          <a:xfrm>
            <a:off x="4381500" y="1666875"/>
            <a:ext cx="3429000" cy="3429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Admin FAQ Editor Title"/>
          <p:cNvSpPr/>
          <p:nvPr/>
        </p:nvSpPr>
        <p:spPr>
          <a:xfrm>
            <a:off x="4552950" y="1800225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Admin FAQ Editor</a:t>
            </a:r>
            <a:endParaRPr lang="en-US" sz="1300"/>
          </a:p>
        </p:txBody>
      </p:sp>
      <p:sp>
        <p:nvSpPr>
          <p:cNvPr id="13" name="Admin FAQ Editor Body"/>
          <p:cNvSpPr/>
          <p:nvPr/>
        </p:nvSpPr>
        <p:spPr>
          <a:xfrm>
            <a:off x="4552950" y="2105025"/>
            <a:ext cx="3086100" cy="2876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Admin route: /admin/chatbot-faqs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Add, edit and delete FAQs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View unanswered questions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Save an unanswered question as a new FAQ</a:t>
            </a:r>
            <a:endParaRPr lang="en-US" sz="1400"/>
          </a:p>
        </p:txBody>
      </p:sp>
      <p:sp>
        <p:nvSpPr>
          <p:cNvPr id="14" name="Code Panel"/>
          <p:cNvSpPr/>
          <p:nvPr/>
        </p:nvSpPr>
        <p:spPr>
          <a:xfrm>
            <a:off x="8191500" y="1666875"/>
            <a:ext cx="3429000" cy="3429000"/>
          </a:xfrm>
          <a:prstGeom prst="roundRect">
            <a:avLst/>
          </a:prstGeom>
          <a:solidFill>
            <a:srgbClr val="071827"/>
          </a:solidFill>
          <a:ln w="12700">
            <a:solidFill>
              <a:srgbClr val="2E5D87"/>
            </a:solidFill>
          </a:ln>
        </p:spPr>
      </p:sp>
      <p:sp>
        <p:nvSpPr>
          <p:cNvPr id="15" name="Code Text"/>
          <p:cNvSpPr/>
          <p:nvPr/>
        </p:nvSpPr>
        <p:spPr>
          <a:xfrm>
            <a:off x="8362950" y="1819275"/>
            <a:ext cx="3086100" cy="3162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>
                <a:solidFill>
                  <a:srgbClr val="D9F99D"/>
                </a:solidFill>
                <a:latin typeface="Consolas"/>
              </a:rPr>
              <a:t>POST /api/chatbot/ask</a:t>
            </a:r>
            <a:endParaRPr lang="en-US" sz="1300"/>
          </a:p>
          <a:p>
            <a:pPr algn="l"/>
            <a:r>
              <a:rPr lang="en-US" sz="1300">
                <a:solidFill>
                  <a:srgbClr val="D9F99D"/>
                </a:solidFill>
                <a:latin typeface="Consolas"/>
              </a:rPr>
              <a:t>GET  /api/chatbot/history</a:t>
            </a:r>
            <a:endParaRPr lang="en-US" sz="1300"/>
          </a:p>
          <a:p>
            <a:pPr algn="l"/>
            <a:r>
              <a:rPr lang="en-US" sz="1300">
                <a:solidFill>
                  <a:srgbClr val="D9F99D"/>
                </a:solidFill>
                <a:latin typeface="Consolas"/>
              </a:rPr>
              <a:t>GET  /api/chatbot/admin/faqs</a:t>
            </a:r>
            <a:endParaRPr lang="en-US" sz="1300"/>
          </a:p>
          <a:p>
            <a:pPr algn="l"/>
            <a:r>
              <a:rPr lang="en-US" sz="1300">
                <a:solidFill>
                  <a:srgbClr val="D9F99D"/>
                </a:solidFill>
                <a:latin typeface="Consolas"/>
              </a:rPr>
              <a:t>POST /api/chatbot/admin/faqs</a:t>
            </a:r>
            <a:endParaRPr lang="en-US" sz="1300"/>
          </a:p>
          <a:p>
            <a:pPr algn="l"/>
            <a:r>
              <a:rPr lang="en-US" sz="1300">
                <a:solidFill>
                  <a:srgbClr val="D9F99D"/>
                </a:solidFill>
                <a:latin typeface="Consolas"/>
              </a:rPr>
              <a:t>GET  /api/chatbot/admin/unanswered</a:t>
            </a:r>
            <a:endParaRPr lang="en-US" sz="13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Reporting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Analytics and Reporting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Admin dashboard summarizes important operational data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27 / 30</a:t>
            </a:r>
            <a:endParaRPr lang="en-US" sz="1000"/>
          </a:p>
        </p:txBody>
      </p:sp>
      <p:sp>
        <p:nvSpPr>
          <p:cNvPr id="8" name="Analytics Dashboard"/>
          <p:cNvSpPr/>
          <p:nvPr/>
        </p:nvSpPr>
        <p:spPr>
          <a:xfrm>
            <a:off x="571500" y="1666875"/>
            <a:ext cx="3333750" cy="3429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Analytics Dashboard Title"/>
          <p:cNvSpPr/>
          <p:nvPr/>
        </p:nvSpPr>
        <p:spPr>
          <a:xfrm>
            <a:off x="742950" y="1800225"/>
            <a:ext cx="29908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Analytics Dashboard</a:t>
            </a:r>
            <a:endParaRPr lang="en-US" sz="1300"/>
          </a:p>
        </p:txBody>
      </p:sp>
      <p:sp>
        <p:nvSpPr>
          <p:cNvPr id="10" name="Analytics Dashboard Body"/>
          <p:cNvSpPr/>
          <p:nvPr/>
        </p:nvSpPr>
        <p:spPr>
          <a:xfrm>
            <a:off x="742950" y="2105025"/>
            <a:ext cx="2990850" cy="2876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Total students and admission status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Fee collection breakdown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Attendance trend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Grade distribution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Monthly applications</a:t>
            </a:r>
            <a:endParaRPr lang="en-US" sz="1400"/>
          </a:p>
        </p:txBody>
      </p:sp>
      <p:sp>
        <p:nvSpPr>
          <p:cNvPr id="11" name="Reporting Utilities"/>
          <p:cNvSpPr/>
          <p:nvPr/>
        </p:nvSpPr>
        <p:spPr>
          <a:xfrm>
            <a:off x="4429125" y="1666875"/>
            <a:ext cx="3333750" cy="3429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Reporting Utilities Title"/>
          <p:cNvSpPr/>
          <p:nvPr/>
        </p:nvSpPr>
        <p:spPr>
          <a:xfrm>
            <a:off x="4600575" y="1800225"/>
            <a:ext cx="29908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Reporting Utilities</a:t>
            </a:r>
            <a:endParaRPr lang="en-US" sz="1300"/>
          </a:p>
        </p:txBody>
      </p:sp>
      <p:sp>
        <p:nvSpPr>
          <p:cNvPr id="13" name="Reporting Utilities Body"/>
          <p:cNvSpPr/>
          <p:nvPr/>
        </p:nvSpPr>
        <p:spPr>
          <a:xfrm>
            <a:off x="4600575" y="2105025"/>
            <a:ext cx="2990850" cy="2876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Recharts for visual dashboards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jsPDF and html2canvas for generated reports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PDF helper utilities in frontend/src/utils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Admin can refresh analytics data</a:t>
            </a:r>
            <a:endParaRPr lang="en-US" sz="1400"/>
          </a:p>
        </p:txBody>
      </p:sp>
      <p:sp>
        <p:nvSpPr>
          <p:cNvPr id="14" name="Decision Support"/>
          <p:cNvSpPr/>
          <p:nvPr/>
        </p:nvSpPr>
        <p:spPr>
          <a:xfrm>
            <a:off x="8286750" y="1666875"/>
            <a:ext cx="3333750" cy="342900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5" name="Decision Support Title"/>
          <p:cNvSpPr/>
          <p:nvPr/>
        </p:nvSpPr>
        <p:spPr>
          <a:xfrm>
            <a:off x="8458200" y="1800225"/>
            <a:ext cx="29908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Decision Support</a:t>
            </a:r>
            <a:endParaRPr lang="en-US" sz="1300"/>
          </a:p>
        </p:txBody>
      </p:sp>
      <p:sp>
        <p:nvSpPr>
          <p:cNvPr id="16" name="Decision Support Body"/>
          <p:cNvSpPr/>
          <p:nvPr/>
        </p:nvSpPr>
        <p:spPr>
          <a:xfrm>
            <a:off x="8458200" y="2105025"/>
            <a:ext cx="2990850" cy="2876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Identify pending fees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Track admissions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Monitor academic performance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Review operational workload</a:t>
            </a:r>
            <a:endParaRPr lang="en-US"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Code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Representative Code Snippets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Important project code patterns mentioned in the report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28 / 30</a:t>
            </a:r>
            <a:endParaRPr lang="en-US" sz="1000"/>
          </a:p>
        </p:txBody>
      </p:sp>
      <p:sp>
        <p:nvSpPr>
          <p:cNvPr id="8" name="Code Panel"/>
          <p:cNvSpPr/>
          <p:nvPr/>
        </p:nvSpPr>
        <p:spPr>
          <a:xfrm>
            <a:off x="476250" y="1476375"/>
            <a:ext cx="3524250" cy="4095750"/>
          </a:xfrm>
          <a:prstGeom prst="roundRect">
            <a:avLst/>
          </a:prstGeom>
          <a:solidFill>
            <a:srgbClr val="071827"/>
          </a:solidFill>
          <a:ln w="12700">
            <a:solidFill>
              <a:srgbClr val="2E5D87"/>
            </a:solidFill>
          </a:ln>
        </p:spPr>
      </p:sp>
      <p:sp>
        <p:nvSpPr>
          <p:cNvPr id="9" name="Code Text"/>
          <p:cNvSpPr/>
          <p:nvPr/>
        </p:nvSpPr>
        <p:spPr>
          <a:xfrm>
            <a:off x="647700" y="1628775"/>
            <a:ext cx="3181350" cy="3829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>Express route registration:</a:t>
            </a:r>
            <a:endParaRPr lang="en-US" sz="1200"/>
          </a:p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>app.use('/api/auth', authRoutes);</a:t>
            </a:r>
            <a:endParaRPr lang="en-US" sz="1200"/>
          </a:p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>app.use('/api/students', studentRoutes);</a:t>
            </a:r>
            <a:endParaRPr lang="en-US" sz="1200"/>
          </a:p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>app.use('/api/chatbot', chatbotRoutes);</a:t>
            </a:r>
            <a:endParaRPr lang="en-US" sz="1200"/>
          </a:p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/>
            </a:r>
            <a:endParaRPr lang="en-US" sz="1200"/>
          </a:p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>Health check:</a:t>
            </a:r>
            <a:endParaRPr lang="en-US" sz="1200"/>
          </a:p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>GET /api/health</a:t>
            </a:r>
            <a:endParaRPr lang="en-US" sz="1200"/>
          </a:p>
        </p:txBody>
      </p:sp>
      <p:sp>
        <p:nvSpPr>
          <p:cNvPr id="10" name="Code Panel"/>
          <p:cNvSpPr/>
          <p:nvPr/>
        </p:nvSpPr>
        <p:spPr>
          <a:xfrm>
            <a:off x="4333875" y="1476375"/>
            <a:ext cx="3524250" cy="4095750"/>
          </a:xfrm>
          <a:prstGeom prst="roundRect">
            <a:avLst/>
          </a:prstGeom>
          <a:solidFill>
            <a:srgbClr val="071827"/>
          </a:solidFill>
          <a:ln w="12700">
            <a:solidFill>
              <a:srgbClr val="2E5D87"/>
            </a:solidFill>
          </a:ln>
        </p:spPr>
      </p:sp>
      <p:sp>
        <p:nvSpPr>
          <p:cNvPr id="11" name="Code Text"/>
          <p:cNvSpPr/>
          <p:nvPr/>
        </p:nvSpPr>
        <p:spPr>
          <a:xfrm>
            <a:off x="4505325" y="1628775"/>
            <a:ext cx="3181350" cy="3829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>Axios token interceptor:</a:t>
            </a:r>
            <a:endParaRPr lang="en-US" sz="1200"/>
          </a:p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>const stored = localStorage.getItem(...);</a:t>
            </a:r>
            <a:endParaRPr lang="en-US" sz="1200"/>
          </a:p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>if (user?.token) {</a:t>
            </a:r>
            <a:endParaRPr lang="en-US" sz="1200"/>
          </a:p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>  config.headers.Authorization =</a:t>
            </a:r>
            <a:endParaRPr lang="en-US" sz="1200"/>
          </a:p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>    `Bearer ${user.token}`;</a:t>
            </a:r>
            <a:endParaRPr lang="en-US" sz="1200"/>
          </a:p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>}</a:t>
            </a:r>
            <a:endParaRPr lang="en-US" sz="1200"/>
          </a:p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/>
            </a:r>
            <a:endParaRPr lang="en-US" sz="1200"/>
          </a:p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>401 -&gt; remove user and redirect login</a:t>
            </a:r>
            <a:endParaRPr lang="en-US" sz="1200"/>
          </a:p>
        </p:txBody>
      </p:sp>
      <p:sp>
        <p:nvSpPr>
          <p:cNvPr id="12" name="Code Panel"/>
          <p:cNvSpPr/>
          <p:nvPr/>
        </p:nvSpPr>
        <p:spPr>
          <a:xfrm>
            <a:off x="8191500" y="1476375"/>
            <a:ext cx="3524250" cy="4095750"/>
          </a:xfrm>
          <a:prstGeom prst="roundRect">
            <a:avLst/>
          </a:prstGeom>
          <a:solidFill>
            <a:srgbClr val="071827"/>
          </a:solidFill>
          <a:ln w="12700">
            <a:solidFill>
              <a:srgbClr val="2E5D87"/>
            </a:solidFill>
          </a:ln>
        </p:spPr>
      </p:sp>
      <p:sp>
        <p:nvSpPr>
          <p:cNvPr id="13" name="Code Text"/>
          <p:cNvSpPr/>
          <p:nvPr/>
        </p:nvSpPr>
        <p:spPr>
          <a:xfrm>
            <a:off x="8362950" y="1628775"/>
            <a:ext cx="3181350" cy="3829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>Mongoose model pattern:</a:t>
            </a:r>
            <a:endParaRPr lang="en-US" sz="1200"/>
          </a:p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>const schema = new mongoose.Schema({...},</a:t>
            </a:r>
            <a:endParaRPr lang="en-US" sz="1200"/>
          </a:p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>  { timestamps: true }</a:t>
            </a:r>
            <a:endParaRPr lang="en-US" sz="1200"/>
          </a:p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>);</a:t>
            </a:r>
            <a:endParaRPr lang="en-US" sz="1200"/>
          </a:p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/>
            </a:r>
            <a:endParaRPr lang="en-US" sz="1200"/>
          </a:p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>module.exports = mongoose.model(</a:t>
            </a:r>
            <a:endParaRPr lang="en-US" sz="1200"/>
          </a:p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>  "Student", studentSchema</a:t>
            </a:r>
            <a:endParaRPr lang="en-US" sz="1200"/>
          </a:p>
          <a:p>
            <a:pPr algn="l"/>
            <a:r>
              <a:rPr lang="en-US" sz="1200">
                <a:solidFill>
                  <a:srgbClr val="D9F99D"/>
                </a:solidFill>
                <a:latin typeface="Consolas"/>
              </a:rPr>
              <a:t>);</a:t>
            </a:r>
            <a:endParaRPr lang="en-US" sz="1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Operations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Setup, Run, Build, Deployment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How the project is executed during development and prepared for production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29 / 30</a:t>
            </a:r>
            <a:endParaRPr lang="en-US" sz="1000"/>
          </a:p>
        </p:txBody>
      </p:sp>
      <p:sp>
        <p:nvSpPr>
          <p:cNvPr id="8" name="Install and Run"/>
          <p:cNvSpPr/>
          <p:nvPr/>
        </p:nvSpPr>
        <p:spPr>
          <a:xfrm>
            <a:off x="571500" y="1619250"/>
            <a:ext cx="3429000" cy="3667125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Install and Run Title"/>
          <p:cNvSpPr/>
          <p:nvPr/>
        </p:nvSpPr>
        <p:spPr>
          <a:xfrm>
            <a:off x="742950" y="1752600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Install and Run</a:t>
            </a:r>
            <a:endParaRPr lang="en-US" sz="1300"/>
          </a:p>
        </p:txBody>
      </p:sp>
      <p:sp>
        <p:nvSpPr>
          <p:cNvPr id="10" name="Install and Run Body"/>
          <p:cNvSpPr/>
          <p:nvPr/>
        </p:nvSpPr>
        <p:spPr>
          <a:xfrm>
            <a:off x="742950" y="2057400"/>
            <a:ext cx="3086100" cy="3114675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npm install at workspace root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npm install --prefix backend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npm install --prefix frontend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Backend: npm start --prefix backend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Frontend: npm run dev --prefix frontend</a:t>
            </a:r>
            <a:endParaRPr lang="en-US" sz="1400"/>
          </a:p>
        </p:txBody>
      </p:sp>
      <p:sp>
        <p:nvSpPr>
          <p:cNvPr id="11" name="Build"/>
          <p:cNvSpPr/>
          <p:nvPr/>
        </p:nvSpPr>
        <p:spPr>
          <a:xfrm>
            <a:off x="4381500" y="1619250"/>
            <a:ext cx="3429000" cy="3667125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Build Title"/>
          <p:cNvSpPr/>
          <p:nvPr/>
        </p:nvSpPr>
        <p:spPr>
          <a:xfrm>
            <a:off x="4552950" y="1752600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Build</a:t>
            </a:r>
            <a:endParaRPr lang="en-US" sz="1300"/>
          </a:p>
        </p:txBody>
      </p:sp>
      <p:sp>
        <p:nvSpPr>
          <p:cNvPr id="13" name="Build Body"/>
          <p:cNvSpPr/>
          <p:nvPr/>
        </p:nvSpPr>
        <p:spPr>
          <a:xfrm>
            <a:off x="4552950" y="2057400"/>
            <a:ext cx="3086100" cy="3114675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Frontend build command: npm run build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Vite outputs production files in frontend/dist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Backend runs with Node server.js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MongoDB connection configured through environment variables</a:t>
            </a:r>
            <a:endParaRPr lang="en-US" sz="1400"/>
          </a:p>
        </p:txBody>
      </p:sp>
      <p:sp>
        <p:nvSpPr>
          <p:cNvPr id="14" name="Deployment Notes"/>
          <p:cNvSpPr/>
          <p:nvPr/>
        </p:nvSpPr>
        <p:spPr>
          <a:xfrm>
            <a:off x="8191500" y="1619250"/>
            <a:ext cx="3429000" cy="3667125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5" name="Deployment Notes Title"/>
          <p:cNvSpPr/>
          <p:nvPr/>
        </p:nvSpPr>
        <p:spPr>
          <a:xfrm>
            <a:off x="8362950" y="1752600"/>
            <a:ext cx="3086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Deployment Notes</a:t>
            </a:r>
            <a:endParaRPr lang="en-US" sz="1300"/>
          </a:p>
        </p:txBody>
      </p:sp>
      <p:sp>
        <p:nvSpPr>
          <p:cNvPr id="16" name="Deployment Notes Body"/>
          <p:cNvSpPr/>
          <p:nvPr/>
        </p:nvSpPr>
        <p:spPr>
          <a:xfrm>
            <a:off x="8362950" y="2057400"/>
            <a:ext cx="3086100" cy="3114675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Configure CLIENT_URL and MongoDB URI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Serve frontend build with a static host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Run backend on Node-capable server</a:t>
            </a:r>
            <a:endParaRPr lang="en-US" sz="1400"/>
          </a:p>
          <a:p>
            <a:pPr algn="l"/>
            <a:r>
              <a:rPr lang="en-US" sz="1400">
                <a:solidFill>
                  <a:srgbClr val="E7EEF8"/>
                </a:solidFill>
                <a:latin typeface="Aptos"/>
              </a:rPr>
              <a:t>- Protect JWT secret and upload credentials</a:t>
            </a:r>
            <a:endParaRPr lang="en-US" sz="1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14350" y="2095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200" b="1">
                <a:solidFill>
                  <a:srgbClr val="D4AF37"/>
                </a:solidFill>
                <a:latin typeface="Aptos"/>
              </a:rPr>
              <a:t>Closure</a:t>
            </a:r>
            <a:endParaRPr lang="en-US" sz="1200"/>
          </a:p>
        </p:txBody>
      </p:sp>
      <p:sp>
        <p:nvSpPr>
          <p:cNvPr id="5" name="Title"/>
          <p:cNvSpPr/>
          <p:nvPr/>
        </p:nvSpPr>
        <p:spPr>
          <a:xfrm>
            <a:off x="514350" y="5905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 Display"/>
              </a:rPr>
              <a:t>Testing, Limitations, Future Scope, Conclusion</a:t>
            </a:r>
            <a:endParaRPr lang="en-US" sz="3100"/>
          </a:p>
        </p:txBody>
      </p:sp>
      <p:sp>
        <p:nvSpPr>
          <p:cNvPr id="6" name="Subtitle"/>
          <p:cNvSpPr/>
          <p:nvPr/>
        </p:nvSpPr>
        <p:spPr>
          <a:xfrm>
            <a:off x="533400" y="1200150"/>
            <a:ext cx="7810500" cy="4381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400">
                <a:solidFill>
                  <a:srgbClr val="A7B4C8"/>
                </a:solidFill>
                <a:latin typeface="Aptos"/>
              </a:rPr>
              <a:t>Final evaluation and next development direction</a:t>
            </a:r>
            <a:endParaRPr lang="en-US" sz="1400"/>
          </a:p>
        </p:txBody>
      </p:sp>
      <p:sp>
        <p:nvSpPr>
          <p:cNvPr id="7" name="Slide Number"/>
          <p:cNvSpPr/>
          <p:nvPr/>
        </p:nvSpPr>
        <p:spPr>
          <a:xfrm>
            <a:off x="10668000" y="628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r"/>
            <a:r>
              <a:rPr lang="en-US" sz="1000">
                <a:solidFill>
                  <a:srgbClr val="7D8EA8"/>
                </a:solidFill>
                <a:latin typeface="Aptos"/>
              </a:rPr>
              <a:t>30 / 30</a:t>
            </a:r>
            <a:endParaRPr lang="en-US" sz="1000"/>
          </a:p>
        </p:txBody>
      </p:sp>
      <p:sp>
        <p:nvSpPr>
          <p:cNvPr id="8" name="Testing Done"/>
          <p:cNvSpPr/>
          <p:nvPr/>
        </p:nvSpPr>
        <p:spPr>
          <a:xfrm>
            <a:off x="428625" y="1476375"/>
            <a:ext cx="2667000" cy="4095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9" name="Testing Done Title"/>
          <p:cNvSpPr/>
          <p:nvPr/>
        </p:nvSpPr>
        <p:spPr>
          <a:xfrm>
            <a:off x="600075" y="1609725"/>
            <a:ext cx="2324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Testing Done</a:t>
            </a:r>
            <a:endParaRPr lang="en-US" sz="1300"/>
          </a:p>
        </p:txBody>
      </p:sp>
      <p:sp>
        <p:nvSpPr>
          <p:cNvPr id="10" name="Testing Done Body"/>
          <p:cNvSpPr/>
          <p:nvPr/>
        </p:nvSpPr>
        <p:spPr>
          <a:xfrm>
            <a:off x="600075" y="1914525"/>
            <a:ext cx="2324100" cy="3543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Frontend production build passed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Backend chatbot files syntax checked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API health endpoint available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Routes and modules reviewed from source</a:t>
            </a:r>
            <a:endParaRPr lang="en-US" sz="1300"/>
          </a:p>
        </p:txBody>
      </p:sp>
      <p:sp>
        <p:nvSpPr>
          <p:cNvPr id="11" name="Current Limitations"/>
          <p:cNvSpPr/>
          <p:nvPr/>
        </p:nvSpPr>
        <p:spPr>
          <a:xfrm>
            <a:off x="3333750" y="1476375"/>
            <a:ext cx="2667000" cy="4095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2" name="Current Limitations Title"/>
          <p:cNvSpPr/>
          <p:nvPr/>
        </p:nvSpPr>
        <p:spPr>
          <a:xfrm>
            <a:off x="3505200" y="1609725"/>
            <a:ext cx="2324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Current Limitations</a:t>
            </a:r>
            <a:endParaRPr lang="en-US" sz="1300"/>
          </a:p>
        </p:txBody>
      </p:sp>
      <p:sp>
        <p:nvSpPr>
          <p:cNvPr id="13" name="Current Limitations Body"/>
          <p:cNvSpPr/>
          <p:nvPr/>
        </p:nvSpPr>
        <p:spPr>
          <a:xfrm>
            <a:off x="3505200" y="1914525"/>
            <a:ext cx="2324100" cy="3543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No external AI model integration yet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Manual admin data entry still needed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Live chat depends on admin availability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More automated tests can be added</a:t>
            </a:r>
            <a:endParaRPr lang="en-US" sz="1300"/>
          </a:p>
        </p:txBody>
      </p:sp>
      <p:sp>
        <p:nvSpPr>
          <p:cNvPr id="14" name="Future Scope"/>
          <p:cNvSpPr/>
          <p:nvPr/>
        </p:nvSpPr>
        <p:spPr>
          <a:xfrm>
            <a:off x="6238875" y="1476375"/>
            <a:ext cx="2667000" cy="4095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5" name="Future Scope Title"/>
          <p:cNvSpPr/>
          <p:nvPr/>
        </p:nvSpPr>
        <p:spPr>
          <a:xfrm>
            <a:off x="6410325" y="1609725"/>
            <a:ext cx="2324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Future Scope</a:t>
            </a:r>
            <a:endParaRPr lang="en-US" sz="1300"/>
          </a:p>
        </p:txBody>
      </p:sp>
      <p:sp>
        <p:nvSpPr>
          <p:cNvPr id="16" name="Future Scope Body"/>
          <p:cNvSpPr/>
          <p:nvPr/>
        </p:nvSpPr>
        <p:spPr>
          <a:xfrm>
            <a:off x="6410325" y="1914525"/>
            <a:ext cx="2324100" cy="3543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Voice input and voice reply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More languages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Payment gateway integration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Mobile app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Advanced analytics and reminders</a:t>
            </a:r>
            <a:endParaRPr lang="en-US" sz="1300"/>
          </a:p>
        </p:txBody>
      </p:sp>
      <p:sp>
        <p:nvSpPr>
          <p:cNvPr id="17" name="Conclusion"/>
          <p:cNvSpPr/>
          <p:nvPr/>
        </p:nvSpPr>
        <p:spPr>
          <a:xfrm>
            <a:off x="9144000" y="1476375"/>
            <a:ext cx="2667000" cy="4095750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223A5D"/>
            </a:solidFill>
          </a:ln>
        </p:spPr>
      </p:sp>
      <p:sp>
        <p:nvSpPr>
          <p:cNvPr id="18" name="Conclusion Title"/>
          <p:cNvSpPr/>
          <p:nvPr/>
        </p:nvSpPr>
        <p:spPr>
          <a:xfrm>
            <a:off x="9315450" y="1609725"/>
            <a:ext cx="23241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 b="1">
                <a:solidFill>
                  <a:srgbClr val="D4AF37"/>
                </a:solidFill>
                <a:latin typeface="Aptos"/>
              </a:rPr>
              <a:t>Conclusion</a:t>
            </a:r>
            <a:endParaRPr lang="en-US" sz="1300"/>
          </a:p>
        </p:txBody>
      </p:sp>
      <p:sp>
        <p:nvSpPr>
          <p:cNvPr id="19" name="Conclusion Body"/>
          <p:cNvSpPr/>
          <p:nvPr/>
        </p:nvSpPr>
        <p:spPr>
          <a:xfrm>
            <a:off x="9315450" y="1914525"/>
            <a:ext cx="2324100" cy="3543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>
            <a:normAutofit/>
          </a:bodyPr>
          <a:lstStyle/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The project is a complete college ERP foundation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Modular MERN architecture supports expansion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Student and admin workflows are centralized</a:t>
            </a:r>
            <a:endParaRPr lang="en-US" sz="1300"/>
          </a:p>
          <a:p>
            <a:pPr algn="l"/>
            <a:r>
              <a:rPr lang="en-US" sz="1300">
                <a:solidFill>
                  <a:srgbClr val="E7EEF8"/>
                </a:solidFill>
                <a:latin typeface="Aptos"/>
              </a:rPr>
              <a:t>- Chatbot improves support and navigation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llege Project Theme">
  <a:themeElements>
    <a:clrScheme name="College Gold">
      <a:dk1>
        <a:srgbClr val="07111F"/>
      </a:dk1>
      <a:lt1>
        <a:srgbClr val="FFFFFF"/>
      </a:lt1>
      <a:dk2>
        <a:srgbClr val="101E33"/>
      </a:dk2>
      <a:lt2>
        <a:srgbClr val="E7EEF8"/>
      </a:lt2>
      <a:accent1>
        <a:srgbClr val="D4AF37"/>
      </a:accent1>
      <a:accent2>
        <a:srgbClr val="2563EB"/>
      </a:accent2>
      <a:accent3>
        <a:srgbClr val="10B981"/>
      </a:accent3>
      <a:accent4>
        <a:srgbClr val="F97316"/>
      </a:accent4>
      <a:accent5>
        <a:srgbClr val="A855F7"/>
      </a:accent5>
      <a:accent6>
        <a:srgbClr val="38BDF8"/>
      </a:accent6>
      <a:hlink>
        <a:srgbClr val="60A5FA"/>
      </a:hlink>
      <a:folHlink>
        <a:srgbClr val="A78BFA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College">
      <a:fillStyleLst>
        <a:solidFill>
          <a:schemeClr val="accent1"/>
        </a:solidFill>
      </a:fillStyleLst>
      <a:lnStyleLst>
        <a:ln w="12700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30</Slides>
  <Notes>0</Notes>
  <HiddenSlides>0</HiddenSlide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Management System Full Project Report</dc:title>
  <dc:subject>Frontend, Backend, Database and Codebase Documentation</dc:subject>
  <dc:creator>Codex</dc:creator>
  <cp:lastModifiedBy>Codex</cp:lastModifiedBy>
  <dcterms:created xsi:type="dcterms:W3CDTF">2026-04-25T07:07:28Z</dcterms:created>
  <dcterms:modified xsi:type="dcterms:W3CDTF">2026-04-25T07:07:28Z</dcterms:modified>
</cp:coreProperties>
</file>